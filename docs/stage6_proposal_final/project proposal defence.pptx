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62" r:id="rId3"/>
    <p:sldId id="257" r:id="rId4"/>
    <p:sldId id="258" r:id="rId5"/>
    <p:sldId id="286" r:id="rId6"/>
    <p:sldId id="264" r:id="rId7"/>
    <p:sldId id="266" r:id="rId8"/>
    <p:sldId id="265" r:id="rId9"/>
    <p:sldId id="268" r:id="rId10"/>
    <p:sldId id="288" r:id="rId11"/>
    <p:sldId id="275" r:id="rId12"/>
    <p:sldId id="287" r:id="rId13"/>
    <p:sldId id="276" r:id="rId14"/>
    <p:sldId id="289" r:id="rId15"/>
    <p:sldId id="285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712" autoAdjust="0"/>
  </p:normalViewPr>
  <p:slideViewPr>
    <p:cSldViewPr snapToGrid="0">
      <p:cViewPr varScale="1">
        <p:scale>
          <a:sx n="85" d="100"/>
          <a:sy n="85" d="100"/>
        </p:scale>
        <p:origin x="342" y="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966221-A1B9-4193-BB6A-4C02C15517E9}" type="datetimeFigureOut">
              <a:rPr lang="ru-RU" smtClean="0"/>
              <a:t>24.03.2026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700162-2597-4319-879B-9106728402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342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9123DB-729A-48A7-94E4-3B9396F29E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F11E72B-81E3-4EDD-AF3B-6F2E359AFD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072C806-72A5-40DE-AF27-1DC090D90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D4EFC-B5BE-421D-B825-B67AB530B77F}" type="datetime1">
              <a:rPr lang="ru-RU" smtClean="0"/>
              <a:t>24.03.2026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338F99E-5FBB-41F2-81B1-DDFD95A8F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6A9AC6F-31D2-4524-BFEE-828D13436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0"/>
            <a:ext cx="2743200" cy="365125"/>
          </a:xfrm>
        </p:spPr>
        <p:txBody>
          <a:bodyPr/>
          <a:lstStyle>
            <a:lvl1pPr algn="l">
              <a:defRPr/>
            </a:lvl1pPr>
          </a:lstStyle>
          <a:p>
            <a:fld id="{01DD4BE3-3513-4E81-8ABA-C9BBC19AD15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90129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8C9627-800C-4C1A-807E-B0E50A3E2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u="sng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CB483A9-1940-4B9E-82F7-07D149B15C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1FC7F80-98A6-4ECC-A5A6-3C1FCE913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D5BD7-7F0E-45CF-BC08-9F1448E38633}" type="datetime1">
              <a:rPr lang="ru-RU" smtClean="0"/>
              <a:t>24.03.2026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074C5A0-B8ED-49E3-81CD-1B41E184B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B270F2C-4B38-4E1A-8ABC-217A4D3BD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22052"/>
            <a:ext cx="2743200" cy="343073"/>
          </a:xfrm>
        </p:spPr>
        <p:txBody>
          <a:bodyPr/>
          <a:lstStyle>
            <a:lvl1pPr algn="l">
              <a:defRPr/>
            </a:lvl1pPr>
          </a:lstStyle>
          <a:p>
            <a:fld id="{01DD4BE3-3513-4E81-8ABA-C9BBC19AD15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856363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C7433E-A9E7-4F3E-B24B-5324435D6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A3B16E0-B1CE-4490-9882-BAF0289C11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F7C29C1-53C1-4384-A404-3550F2265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69756-5817-4497-9D7A-004493CE7208}" type="datetime1">
              <a:rPr lang="ru-RU" smtClean="0"/>
              <a:t>24.03.2026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92ACCCF-4A1A-4881-97A7-B63839E93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E98CA9C-4E60-46E0-B754-62E3F6B63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D4BE3-3513-4E81-8ABA-C9BBC19AD1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80979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18D2A0-5546-4CC9-AC25-587B28AAF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F15CA6E-AA07-492E-BB92-5ED9EA5E82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B8C9487-FBC0-489D-851E-17C6CC9EB6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00B1522-0C4D-4561-97DB-06688AAEC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AFE97-060E-4E81-9F3B-2E781ED277D1}" type="datetime1">
              <a:rPr lang="ru-RU" smtClean="0"/>
              <a:t>24.03.2026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7ADA9D7-AA70-4BF1-AF1B-8219F52B0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84911FC-7570-47D2-BA01-05DCE0469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D4BE3-3513-4E81-8ABA-C9BBC19AD1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6522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240FEB-ACF4-4941-ACCA-C03E114EA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6A8129D-18FE-42A5-BCE0-F19F9C8DF1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C707278-6F33-4913-8BFD-73A2D40439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FF787ED-C769-4B11-BEC9-EFC3B5F5ED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2EFB52F-52FC-4561-981A-D70BF59893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4D18254-B27E-438C-9A22-C4B456EB9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43E10-ADD0-4672-917A-0975AC186ADD}" type="datetime1">
              <a:rPr lang="ru-RU" smtClean="0"/>
              <a:t>24.03.2026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7227F66-556B-4790-B8F1-A618DFBAD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1F3C799-DDEC-4189-B063-80AE7B88B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D4BE3-3513-4E81-8ABA-C9BBC19AD1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7511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A0E7EA-126B-49A2-98E6-2D2D6922C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A628F4F-4520-4C27-9F6A-D2594D99A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E4DE9-59BB-4C9D-9741-966AF82F7572}" type="datetime1">
              <a:rPr lang="ru-RU" smtClean="0"/>
              <a:t>24.03.2026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71B7B15-2F7E-4419-9623-83C75C4C8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E299BEC-F292-4FC5-B567-3578CD549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D4BE3-3513-4E81-8ABA-C9BBC19AD1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7038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306A05E-909B-4EF2-B84B-3CEE49CBA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95F07-5C53-4249-AF1C-237550CCCD03}" type="datetime1">
              <a:rPr lang="ru-RU" smtClean="0"/>
              <a:t>24.03.2026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BAB71EE-D030-4560-A1B2-7CCA2C717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B242359-2DE8-4099-8B5B-6A0EAB19B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D4BE3-3513-4E81-8ABA-C9BBC19AD1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7036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F845C0-471E-4CEA-96D9-91885CFC5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B35D00D-369F-4CE2-9AF2-CC513094C6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8807A3D-90B4-4B62-B3AB-6A11C9B04E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684A079-0446-426F-93E6-A5C0E484C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E0B95-78E6-4A08-A9F1-2F7F38EC8C4F}" type="datetime1">
              <a:rPr lang="ru-RU" smtClean="0"/>
              <a:t>24.03.2026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F2BB7DB-B8B0-483B-9AF2-A78248AC4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8E84BB8-1950-4413-A60D-72A68B2BA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D4BE3-3513-4E81-8ABA-C9BBC19AD1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64204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8D6F2E-E932-437E-909F-AD54DC937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3C91E77-F053-4DD8-8EE9-F1B794AD15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4C62461-40CE-427A-A0D4-FD6474BCDA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329230A-79C8-4613-B00A-0045B32CF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AA513-8668-4820-981A-0ED736504BC4}" type="datetime1">
              <a:rPr lang="ru-RU" smtClean="0"/>
              <a:t>24.03.2026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DA1E584-C391-478F-A910-D00523864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7E8F2C9-EBF8-47C6-93CF-CDD507D13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D4BE3-3513-4E81-8ABA-C9BBC19AD1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916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82D62F-07E2-4E1F-94C5-4B1253372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511B83C-EACA-429E-B394-AF294CBD44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CAE37C9-61E4-48CB-83EE-6C09506D8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10E86-14FC-4E4C-8273-624A362365CC}" type="datetime1">
              <a:rPr lang="ru-RU" smtClean="0"/>
              <a:t>24.03.2026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D0233DE-8446-41AB-A9E1-A281D2270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01BC650-3FBA-4CD5-B72F-6B15BDBCF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D4BE3-3513-4E81-8ABA-C9BBC19AD1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8735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9C1766B-519F-4E2C-BED6-DC2A433634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3E1674E-2BF6-479F-AB57-35D420F01A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D8A250D-4063-4FF2-BC19-D8BDA3BFA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68F1-43CA-4C9C-8C5D-27E8E2D19E97}" type="datetime1">
              <a:rPr lang="ru-RU" smtClean="0"/>
              <a:t>24.03.2026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7DEB746-D3A0-4F70-AB58-1A040CEB9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C0D1640-2F0C-44E7-A2DB-15FA282C3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D4BE3-3513-4E81-8ABA-C9BBC19AD1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8823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2D0A2D-9465-48F8-8126-982412F43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F20788E-81C6-4D38-9BF4-B31FAF12F8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5B56673-A4A1-4454-800C-8BB9A44D64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BAC1D8-86AE-4E43-A28D-61A5C7D952DE}" type="datetime1">
              <a:rPr lang="ru-RU" smtClean="0"/>
              <a:t>24.03.2026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6DF8642-255C-42AE-8F16-45856B5AF7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3C45D19-FA94-49CE-B929-1D584F9200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DD4BE3-3513-4E81-8ABA-C9BBC19AD1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1504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3.xml"/><Relationship Id="rId5" Type="http://schemas.openxmlformats.org/officeDocument/2006/relationships/slide" Target="slide10.xml"/><Relationship Id="rId4" Type="http://schemas.openxmlformats.org/officeDocument/2006/relationships/slide" Target="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82EE2F-D50A-4268-B27A-5916A4CC073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DEVELOPMENT OF A SYSTEM FOR FAST VIDEO DECODING IN AV1 FORMAT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EC8B584-18EF-4354-836A-524A0441E6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400" dirty="0"/>
              <a:t>Project proposal</a:t>
            </a:r>
            <a:endParaRPr lang="en-US" dirty="0"/>
          </a:p>
          <a:p>
            <a:r>
              <a:rPr lang="en-US" dirty="0"/>
              <a:t>performed by Ilya </a:t>
            </a:r>
            <a:r>
              <a:rPr lang="en-US" dirty="0" err="1"/>
              <a:t>Bersenyov</a:t>
            </a:r>
            <a:r>
              <a:rPr lang="en-US" dirty="0"/>
              <a:t>, ISD-22-2</a:t>
            </a:r>
          </a:p>
          <a:p>
            <a:r>
              <a:rPr lang="en-US" dirty="0"/>
              <a:t>Supervisor: V. V. </a:t>
            </a:r>
            <a:r>
              <a:rPr lang="en-US" dirty="0" err="1"/>
              <a:t>Lanin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361300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4148C0-1BDF-4F2A-82B0-32453A3C5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1ECA8A6-A120-4533-98BF-4A5BBDE21B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TAPe</a:t>
            </a:r>
            <a:r>
              <a:rPr lang="en-US" dirty="0"/>
              <a:t> indexer is something like a one-way video encoder</a:t>
            </a:r>
          </a:p>
          <a:p>
            <a:r>
              <a:rPr lang="en-US" dirty="0"/>
              <a:t>Cause: </a:t>
            </a:r>
            <a:r>
              <a:rPr lang="en-US" dirty="0" err="1"/>
              <a:t>TAPe</a:t>
            </a:r>
            <a:r>
              <a:rPr lang="en-US" dirty="0"/>
              <a:t> average time to index is about 24 times faster than to decode a video</a:t>
            </a:r>
          </a:p>
          <a:p>
            <a:r>
              <a:rPr lang="en-US" dirty="0"/>
              <a:t>Effect: a large bottleneck in </a:t>
            </a:r>
            <a:r>
              <a:rPr lang="en-US" dirty="0" err="1"/>
              <a:t>TAPe’s</a:t>
            </a:r>
            <a:r>
              <a:rPr lang="en-US" dirty="0"/>
              <a:t> current pipeline</a:t>
            </a:r>
          </a:p>
          <a:p>
            <a:r>
              <a:rPr lang="en-US" dirty="0"/>
              <a:t>Goal: close the gap</a:t>
            </a:r>
            <a:endParaRPr lang="ru-RU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3BBAA57A-210B-409E-B99D-007B62F802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4500" y="4000500"/>
            <a:ext cx="666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3CFDE1A-DA70-4589-8F6E-1FA93C239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D4BE3-3513-4E81-8ABA-C9BBC19AD150}" type="slidenum">
              <a:rPr lang="ru-RU" smtClean="0"/>
              <a:pPr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522174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D4EC7A-DA9C-40A9-85F5-DA0D94F60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Relevance and hypothesis</a:t>
            </a:r>
            <a:endParaRPr lang="ru-RU" u="sng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367FAE3-60EC-4C47-A5E9-11C35BD644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67377"/>
            <a:ext cx="10515600" cy="33095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Research aim </a:t>
            </a:r>
            <a:r>
              <a:rPr lang="en-US" dirty="0"/>
              <a:t>is to design, implement and evaluate algorithmic </a:t>
            </a:r>
            <a:r>
              <a:rPr lang="en-US" dirty="0" err="1"/>
              <a:t>optimisations</a:t>
            </a:r>
            <a:r>
              <a:rPr lang="en-US" dirty="0"/>
              <a:t> for AV1 decoding at ultra-low output resolution in a single-threaded environment.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Hypothesis</a:t>
            </a:r>
            <a:r>
              <a:rPr lang="en-US" dirty="0"/>
              <a:t>: Targeted algorithmic changes to the bottleneck stages of </a:t>
            </a:r>
            <a:r>
              <a:rPr lang="en-US" dirty="0" err="1"/>
              <a:t>Libaom</a:t>
            </a:r>
            <a:r>
              <a:rPr lang="en-US" dirty="0"/>
              <a:t> can reduce total system decoding time by 30–50 % while preserving acceptable video quality (PSNR ≥ 15 dB).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CE6F6AE-0450-4C19-B065-EB0A657B8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D4BE3-3513-4E81-8ABA-C9BBC19AD150}" type="slidenum">
              <a:rPr lang="ru-RU" smtClean="0"/>
              <a:pPr/>
              <a:t>3</a:t>
            </a:fld>
            <a:endParaRPr lang="ru-RU" dirty="0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B9AB3E9F-9217-44CC-9427-A9441EC2FC3E}"/>
              </a:ext>
            </a:extLst>
          </p:cNvPr>
          <p:cNvSpPr txBox="1">
            <a:spLocks/>
          </p:cNvSpPr>
          <p:nvPr/>
        </p:nvSpPr>
        <p:spPr>
          <a:xfrm>
            <a:off x="838200" y="1416756"/>
            <a:ext cx="4591756" cy="14506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Object of study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libaom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– the reference AV1 decoder 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(spec v1.0.0 errata 1)</a:t>
            </a:r>
            <a:endParaRPr lang="ru-RU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9F93E8A1-4E61-48D4-8C78-B43128EA7B1E}"/>
              </a:ext>
            </a:extLst>
          </p:cNvPr>
          <p:cNvSpPr txBox="1">
            <a:spLocks/>
          </p:cNvSpPr>
          <p:nvPr/>
        </p:nvSpPr>
        <p:spPr>
          <a:xfrm>
            <a:off x="5429956" y="1428044"/>
            <a:ext cx="4591756" cy="145062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000" dirty="0"/>
              <a:t>Subject of study</a:t>
            </a:r>
          </a:p>
          <a:p>
            <a:pPr marL="0" indent="0" algn="l">
              <a:buNone/>
            </a:pPr>
            <a:r>
              <a:rPr lang="en-US" sz="22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nthropic Sans"/>
              </a:rPr>
              <a:t>Decoding performance at 64 px output, single-threaded, no CUDA</a:t>
            </a:r>
          </a:p>
          <a:p>
            <a:pPr marL="0" indent="0">
              <a:buNone/>
            </a:pPr>
            <a:br>
              <a:rPr lang="en-US" sz="1200" b="0" i="0" dirty="0">
                <a:solidFill>
                  <a:srgbClr val="000000"/>
                </a:solidFill>
                <a:effectLst/>
                <a:latin typeface="Anthropic Sans"/>
              </a:rPr>
            </a:b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33098878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1CAF9C-C81F-424E-A2F4-64DCFEDDA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progress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CD4CFE5-67CD-4711-AE0B-D2F58ADD8C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Functional and non-functional requirements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Analysis of the AV1 Decoding specification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Identification of bottlenecks in the standard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Identification of all the methods </a:t>
            </a:r>
            <a:r>
              <a:rPr lang="en-US" dirty="0">
                <a:effectLst/>
              </a:rPr>
              <a:t>to speed up the code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Choosing the technology stack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Designing the naive realization and the optimized realization</a:t>
            </a:r>
          </a:p>
          <a:p>
            <a:r>
              <a:rPr lang="en-US" dirty="0"/>
              <a:t>Implementing the realizations</a:t>
            </a:r>
          </a:p>
          <a:p>
            <a:r>
              <a:rPr lang="en-US" dirty="0"/>
              <a:t>Testing the realizations</a:t>
            </a:r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6A9F7B6-8C2E-48D3-975F-74EE922C5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D4BE3-3513-4E81-8ABA-C9BBC19AD150}" type="slidenum">
              <a:rPr lang="ru-RU" smtClean="0"/>
              <a:pPr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55850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4AE3CD-A27D-49D8-BCBB-EB20FD1F1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</a:t>
            </a:r>
            <a:r>
              <a:rPr lang="en-US" dirty="0">
                <a:effectLst/>
              </a:rPr>
              <a:t>heoretical background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FAEB011-46B2-4DAA-A2C8-3836629A87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most resource-intensive components according to Chen et al. (2018):</a:t>
            </a:r>
          </a:p>
          <a:p>
            <a:r>
              <a:rPr lang="en-US" dirty="0"/>
              <a:t>Interpolation</a:t>
            </a:r>
          </a:p>
          <a:p>
            <a:r>
              <a:rPr lang="en-US" dirty="0"/>
              <a:t>Deblocking filter</a:t>
            </a:r>
          </a:p>
          <a:p>
            <a:r>
              <a:rPr lang="en-US" dirty="0"/>
              <a:t>Constrained directional enhancement filter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2354E01-80B2-4E9C-A421-3FB95F1D2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D4BE3-3513-4E81-8ABA-C9BBC19AD150}" type="slidenum">
              <a:rPr lang="ru-RU" smtClean="0"/>
              <a:pPr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934575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1E13CA-5E0A-4EA1-94F1-70E3D175F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Interpolation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8CECF2E-C572-49F4-9C49-CEDA079261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Key point: it is very expensive.</a:t>
            </a:r>
          </a:p>
          <a:p>
            <a:pPr marL="0" indent="0">
              <a:buNone/>
            </a:pPr>
            <a:r>
              <a:rPr lang="en-US" dirty="0"/>
              <a:t>8 coefficients 1d interpolation is </a:t>
            </a:r>
            <a:r>
              <a:rPr lang="en-US" dirty="0">
                <a:effectLst/>
              </a:rPr>
              <a:t>the product of two vectors</a:t>
            </a:r>
            <a:r>
              <a:rPr lang="ru-RU" dirty="0">
                <a:effectLst/>
              </a:rPr>
              <a:t> </a:t>
            </a:r>
            <a:r>
              <a:rPr lang="en-US" dirty="0">
                <a:effectLst/>
              </a:rPr>
              <a:t>consisting of 8 numbers which is about </a:t>
            </a:r>
            <a:r>
              <a:rPr lang="ru-RU" b="1" dirty="0">
                <a:effectLst/>
              </a:rPr>
              <a:t>48 </a:t>
            </a:r>
            <a:r>
              <a:rPr lang="en-US" b="1" dirty="0">
                <a:effectLst/>
              </a:rPr>
              <a:t>CPU cycles </a:t>
            </a:r>
            <a:r>
              <a:rPr lang="en-US" dirty="0">
                <a:effectLst/>
              </a:rPr>
              <a:t>provided that multiplication takes 4 cycles and addition takes one cycle.</a:t>
            </a:r>
            <a:endParaRPr lang="ru-RU" dirty="0">
              <a:effectLst/>
            </a:endParaRP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AEC328B-A44B-4B1E-B572-189FC0B12A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0808" y="3515556"/>
            <a:ext cx="3421192" cy="3342443"/>
          </a:xfrm>
          <a:prstGeom prst="rect">
            <a:avLst/>
          </a:prstGeom>
        </p:spPr>
      </p:pic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24CA329-DA88-4C0D-A41E-C33200876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D4BE3-3513-4E81-8ABA-C9BBC19AD150}" type="slidenum">
              <a:rPr lang="ru-RU" smtClean="0"/>
              <a:pPr/>
              <a:t>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772851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963688-9A8F-4787-BB27-918CF6517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DF (Deblocking Filter)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0577C97-136F-413C-9045-7FE4CF3634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Key point: it is unnecessary in ultralow resolution.</a:t>
            </a:r>
          </a:p>
          <a:p>
            <a:pPr marL="0" indent="0">
              <a:buNone/>
            </a:pPr>
            <a:r>
              <a:rPr lang="en-US" dirty="0"/>
              <a:t>DF is a</a:t>
            </a:r>
            <a:r>
              <a:rPr lang="ru-RU" dirty="0"/>
              <a:t> </a:t>
            </a:r>
            <a:r>
              <a:rPr lang="en-US" dirty="0"/>
              <a:t>method of reducing the </a:t>
            </a:r>
            <a:r>
              <a:rPr lang="en-US" dirty="0" err="1"/>
              <a:t>blockiness</a:t>
            </a:r>
            <a:r>
              <a:rPr lang="en-US" dirty="0"/>
              <a:t> of an image but is unnecessary in 64px resolution.</a:t>
            </a:r>
          </a:p>
        </p:txBody>
      </p:sp>
      <p:pic>
        <p:nvPicPr>
          <p:cNvPr id="3074" name="Picture 2" descr="next generation video: Introducing AV1">
            <a:extLst>
              <a:ext uri="{FF2B5EF4-FFF2-40B4-BE49-F238E27FC236}">
                <a16:creationId xmlns:a16="http://schemas.microsoft.com/office/drawing/2014/main" id="{EF162262-9117-486E-99C1-896456C6B30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488"/>
          <a:stretch/>
        </p:blipFill>
        <p:spPr bwMode="auto">
          <a:xfrm>
            <a:off x="5463822" y="4801257"/>
            <a:ext cx="6728178" cy="20567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65577A8-F388-4624-A97C-FEF516E9D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D4BE3-3513-4E81-8ABA-C9BBC19AD150}" type="slidenum">
              <a:rPr lang="ru-RU" smtClean="0"/>
              <a:pPr/>
              <a:t>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865605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C14A8D-4C34-4DB2-81D0-242827FE7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CDEF (Constrained Directional Enhancement Filter)</a:t>
            </a:r>
            <a:endParaRPr lang="ru-RU" sz="3600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D0981B3-0863-4932-8C45-29A30065B2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Key point: it is too expensive operation.</a:t>
            </a:r>
          </a:p>
          <a:p>
            <a:pPr marL="0" indent="0">
              <a:buNone/>
            </a:pPr>
            <a:r>
              <a:rPr lang="en-US" dirty="0"/>
              <a:t>CDEF is applied after the DF and is being used to make transitions between the canvas smoother.</a:t>
            </a:r>
            <a:endParaRPr lang="ru-RU" dirty="0"/>
          </a:p>
        </p:txBody>
      </p:sp>
      <p:pic>
        <p:nvPicPr>
          <p:cNvPr id="6" name="Picture 2" descr="Кодек нового поколения AV1: корректирующий направленный фильтр CDEF / Хабр">
            <a:extLst>
              <a:ext uri="{FF2B5EF4-FFF2-40B4-BE49-F238E27FC236}">
                <a16:creationId xmlns:a16="http://schemas.microsoft.com/office/drawing/2014/main" id="{C39CD773-D37F-4492-8445-B25F80E492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21781" y="3685237"/>
            <a:ext cx="10515600" cy="3172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7F17285-17B3-421F-95D5-7A48BD652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D4BE3-3513-4E81-8ABA-C9BBC19AD150}" type="slidenum">
              <a:rPr lang="ru-RU" smtClean="0"/>
              <a:pPr/>
              <a:t>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362028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552327-5B3B-4654-A03E-5D30C374F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Lookup tables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A15BE37-EBCB-4DC4-BADD-2811974403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857089" cy="438326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Key point: it is faster than dynamic calculation but may lead to a lot of cache misses</a:t>
            </a:r>
          </a:p>
          <a:p>
            <a:pPr marL="0" indent="0">
              <a:buNone/>
            </a:pPr>
            <a:r>
              <a:rPr lang="en-US" dirty="0"/>
              <a:t>Some values are “hard-coded” as arrays of values, where indexes are treated as function arguments.</a:t>
            </a:r>
          </a:p>
          <a:p>
            <a:pPr marL="0" indent="0">
              <a:buNone/>
            </a:pPr>
            <a:r>
              <a:rPr lang="en-US" dirty="0"/>
              <a:t>Example: </a:t>
            </a:r>
            <a:endParaRPr lang="ru-RU" dirty="0"/>
          </a:p>
          <a:p>
            <a:pPr marL="0" indent="0">
              <a:buNone/>
            </a:pPr>
            <a:r>
              <a:rPr lang="en-US" sz="2200" dirty="0">
                <a:latin typeface="Consolas" panose="020B0609020204030204" pitchFamily="49" charset="0"/>
              </a:rPr>
              <a:t>double[] cos = {1.0,0.5,-0.4,-0.9,-0.7,0.2, …}; float x = cos[2];</a:t>
            </a:r>
          </a:p>
          <a:p>
            <a:pPr marL="0" indent="0">
              <a:buNone/>
            </a:pPr>
            <a:r>
              <a:rPr lang="en-US" dirty="0"/>
              <a:t>Instead of</a:t>
            </a:r>
          </a:p>
          <a:p>
            <a:pPr marL="0" indent="0">
              <a:buNone/>
            </a:pPr>
            <a:r>
              <a:rPr lang="en-US" sz="2200" dirty="0">
                <a:latin typeface="Consolas" panose="020B0609020204030204" pitchFamily="49" charset="0"/>
              </a:rPr>
              <a:t>double x = cos(2)</a:t>
            </a:r>
          </a:p>
          <a:p>
            <a:pPr marL="0" indent="0">
              <a:buNone/>
            </a:pPr>
            <a:r>
              <a:rPr lang="en-US" dirty="0"/>
              <a:t>However, as </a:t>
            </a:r>
          </a:p>
          <a:p>
            <a:pPr marL="0" indent="0">
              <a:buNone/>
            </a:pPr>
            <a:r>
              <a:rPr lang="en-US" dirty="0"/>
              <a:t>Yi &amp; Song (2008) state, excessive use may be harmful for the performance</a:t>
            </a:r>
          </a:p>
          <a:p>
            <a:pPr marL="0" indent="0">
              <a:buNone/>
            </a:pPr>
            <a:endParaRPr lang="en-US" sz="2200" dirty="0">
              <a:latin typeface="Consolas" panose="020B0609020204030204" pitchFamily="49" charset="0"/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B3532B8-F9CC-4D72-BD8E-9848FB6C6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D4BE3-3513-4E81-8ABA-C9BBC19AD150}" type="slidenum">
              <a:rPr lang="ru-RU" smtClean="0"/>
              <a:pPr/>
              <a:t>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4007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85FC9E-0301-466F-9FD0-2EABFAD9F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Methodological base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7358DE5-02B6-4690-B753-44455EC8A7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b="0" i="0" dirty="0">
                <a:solidFill>
                  <a:srgbClr val="3D3D3A"/>
                </a:solidFill>
                <a:effectLst/>
                <a:latin typeface="Anthropic Sans"/>
              </a:rPr>
              <a:t>Replacing lookup tables with algebraic expressions (Yi &amp; Song, 2008 — CAVLC for H.264): reduces memory footprint and eliminates cache misses on coefficient arrays.</a:t>
            </a:r>
          </a:p>
          <a:p>
            <a:pPr algn="l"/>
            <a:r>
              <a:rPr lang="en-US" b="0" i="0" dirty="0">
                <a:solidFill>
                  <a:srgbClr val="3D3D3A"/>
                </a:solidFill>
                <a:effectLst/>
                <a:latin typeface="Anthropic Sans"/>
              </a:rPr>
              <a:t>Bitwise arithmetic optimization — "magic constant" division (</a:t>
            </a:r>
            <a:r>
              <a:rPr lang="en-US" b="0" i="0" dirty="0" err="1">
                <a:solidFill>
                  <a:srgbClr val="3D3D3A"/>
                </a:solidFill>
                <a:effectLst/>
                <a:latin typeface="Anthropic Sans"/>
              </a:rPr>
              <a:t>Moroz</a:t>
            </a:r>
            <a:r>
              <a:rPr lang="en-US" b="0" i="0" dirty="0">
                <a:solidFill>
                  <a:srgbClr val="3D3D3A"/>
                </a:solidFill>
                <a:effectLst/>
                <a:latin typeface="Anthropic Sans"/>
              </a:rPr>
              <a:t> &amp; </a:t>
            </a:r>
            <a:r>
              <a:rPr lang="en-US" b="0" i="0" dirty="0" err="1">
                <a:solidFill>
                  <a:srgbClr val="3D3D3A"/>
                </a:solidFill>
                <a:effectLst/>
                <a:latin typeface="Anthropic Sans"/>
              </a:rPr>
              <a:t>Samotyy</a:t>
            </a:r>
            <a:r>
              <a:rPr lang="en-US" b="0" i="0" dirty="0">
                <a:solidFill>
                  <a:srgbClr val="3D3D3A"/>
                </a:solidFill>
                <a:effectLst/>
                <a:latin typeface="Anthropic Sans"/>
              </a:rPr>
              <a:t>, 2018): ≈30 % speedup on division-heavy interpolation paths.</a:t>
            </a:r>
          </a:p>
          <a:p>
            <a:pPr algn="l"/>
            <a:r>
              <a:rPr lang="en-US" b="0" i="0" dirty="0">
                <a:solidFill>
                  <a:srgbClr val="3D3D3A"/>
                </a:solidFill>
                <a:effectLst/>
                <a:latin typeface="Anthropic Sans"/>
              </a:rPr>
              <a:t>Context-adaptive filter bypassing (Ren &amp; </a:t>
            </a:r>
            <a:r>
              <a:rPr lang="en-US" b="0" i="0" dirty="0" err="1">
                <a:solidFill>
                  <a:srgbClr val="3D3D3A"/>
                </a:solidFill>
                <a:effectLst/>
                <a:latin typeface="Anthropic Sans"/>
              </a:rPr>
              <a:t>Kehtarnavaz</a:t>
            </a:r>
            <a:r>
              <a:rPr lang="en-US" b="0" i="0" dirty="0">
                <a:solidFill>
                  <a:srgbClr val="3D3D3A"/>
                </a:solidFill>
                <a:effectLst/>
                <a:latin typeface="Anthropic Sans"/>
              </a:rPr>
              <a:t>, 2007): skip costly post-processing steps when the target output is already ≤64 px.</a:t>
            </a:r>
          </a:p>
          <a:p>
            <a:pPr algn="l"/>
            <a:r>
              <a:rPr lang="en-US" b="0" i="0" dirty="0">
                <a:solidFill>
                  <a:srgbClr val="3D3D3A"/>
                </a:solidFill>
                <a:effectLst/>
                <a:latin typeface="Anthropic Sans"/>
              </a:rPr>
              <a:t>Bentley </a:t>
            </a:r>
            <a:r>
              <a:rPr lang="en-US" b="0" i="0" dirty="0" err="1">
                <a:solidFill>
                  <a:srgbClr val="3D3D3A"/>
                </a:solidFill>
                <a:effectLst/>
                <a:latin typeface="Anthropic Sans"/>
              </a:rPr>
              <a:t>optimisation</a:t>
            </a:r>
            <a:r>
              <a:rPr lang="en-US" b="0" i="0" dirty="0">
                <a:solidFill>
                  <a:srgbClr val="3D3D3A"/>
                </a:solidFill>
                <a:effectLst/>
                <a:latin typeface="Anthropic Sans"/>
              </a:rPr>
              <a:t> rules + CPU-cache layout improvements: spatial locality in pixel buffers, prefetch-friendly access patterns.</a:t>
            </a:r>
          </a:p>
          <a:p>
            <a:endParaRPr lang="en-US" b="0" i="0" dirty="0">
              <a:solidFill>
                <a:srgbClr val="3D3D3A"/>
              </a:solidFill>
              <a:effectLst/>
              <a:latin typeface="Anthropic Sans"/>
            </a:endParaRP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0097F27-435C-460C-A7C0-25928D5E6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D4BE3-3513-4E81-8ABA-C9BBC19AD150}" type="slidenum">
              <a:rPr lang="ru-RU" smtClean="0"/>
              <a:pPr/>
              <a:t>10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175107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CB6A27-CFCB-400C-9B18-4185738BC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</a:rPr>
              <a:t>Metrics used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BF2D1AB-EB16-4A0B-86AE-33B590F479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Total time from the upload to the end of the decoding process</a:t>
            </a:r>
            <a:endParaRPr lang="ru-RU" dirty="0"/>
          </a:p>
          <a:p>
            <a:r>
              <a:rPr lang="en-US" dirty="0"/>
              <a:t>Time to decode a video</a:t>
            </a:r>
          </a:p>
          <a:p>
            <a:r>
              <a:rPr lang="en-US" dirty="0">
                <a:effectLst/>
              </a:rPr>
              <a:t>A frame-by-frame metric estimated by the difference in brightness between each pixel of the original frame and the decoded one</a:t>
            </a:r>
            <a:endParaRPr lang="ru-RU" dirty="0">
              <a:effectLst/>
            </a:endParaRPr>
          </a:p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Peak Signal-to-Noise Ratio (</a:t>
            </a:r>
            <a:r>
              <a:rPr lang="en-US" dirty="0"/>
              <a:t>PSNR) </a:t>
            </a:r>
          </a:p>
          <a:p>
            <a:r>
              <a:rPr lang="en-US" dirty="0"/>
              <a:t>Stability and reproducibility of the obtained optimizations for </a:t>
            </a:r>
            <a:r>
              <a:rPr lang="en-US" dirty="0" err="1"/>
              <a:t>Libaom</a:t>
            </a:r>
            <a:r>
              <a:rPr lang="en-US" dirty="0"/>
              <a:t>, confirmed by at least five test runs with the same input data</a:t>
            </a:r>
          </a:p>
          <a:p>
            <a:r>
              <a:rPr lang="en-US" dirty="0"/>
              <a:t>Time to response in high load scenario</a:t>
            </a:r>
          </a:p>
          <a:p>
            <a:pPr marL="0" indent="0">
              <a:buNone/>
            </a:pPr>
            <a:r>
              <a:rPr lang="en-US" dirty="0"/>
              <a:t>Compared to naive realization</a:t>
            </a:r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30D8916-DAA5-4495-96E9-C618B43C8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D4BE3-3513-4E81-8ABA-C9BBC19AD150}" type="slidenum">
              <a:rPr lang="ru-RU" smtClean="0"/>
              <a:pPr/>
              <a:t>11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154058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124F59-7FA3-45D8-99ED-6317DA965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 of the practice part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5300F9C-626C-4C47-A276-07BBB4C3F1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Implementing the naïve realization </a:t>
            </a:r>
          </a:p>
          <a:p>
            <a:r>
              <a:rPr lang="en-US" dirty="0"/>
              <a:t>Implementing the optimized realization</a:t>
            </a:r>
          </a:p>
          <a:p>
            <a:pPr lvl="1"/>
            <a:r>
              <a:rPr lang="en-US" dirty="0"/>
              <a:t>Lookup table</a:t>
            </a:r>
          </a:p>
          <a:p>
            <a:pPr lvl="1"/>
            <a:r>
              <a:rPr lang="en-US" dirty="0"/>
              <a:t>Cache-optimized buffer pixel layout</a:t>
            </a:r>
          </a:p>
          <a:p>
            <a:pPr lvl="1"/>
            <a:r>
              <a:rPr lang="en-US" dirty="0"/>
              <a:t>Analytic substitution (interpolation coefficients)</a:t>
            </a:r>
          </a:p>
          <a:p>
            <a:pPr lvl="1"/>
            <a:r>
              <a:rPr lang="en-US" dirty="0"/>
              <a:t>Skip/simplify CDEF and DF at 64 or less px output</a:t>
            </a:r>
          </a:p>
          <a:p>
            <a:r>
              <a:rPr lang="en-US" dirty="0"/>
              <a:t>Evaluating the realizations</a:t>
            </a: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436E54F-1A62-4583-BEFC-A03BEF7AC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D4BE3-3513-4E81-8ABA-C9BBC19AD150}" type="slidenum">
              <a:rPr lang="ru-RU" smtClean="0"/>
              <a:pPr/>
              <a:t>12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326037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562E76-A212-4ADA-A642-53A96B5C4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Expected results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8D305C4-C95F-46F3-A3C7-DA4DA97CA5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Total time to decode – 20-35% speed increasing</a:t>
            </a:r>
          </a:p>
          <a:p>
            <a:r>
              <a:rPr lang="en-US" dirty="0"/>
              <a:t>Time to decode – 30-50% speed increasing at minimum 5 runs</a:t>
            </a:r>
          </a:p>
          <a:p>
            <a:r>
              <a:rPr lang="en-US" dirty="0"/>
              <a:t>Confirmation of acceptable quality degradation</a:t>
            </a:r>
          </a:p>
          <a:p>
            <a:pPr lvl="1"/>
            <a:r>
              <a:rPr lang="en-US" dirty="0"/>
              <a:t>PSNR </a:t>
            </a:r>
            <a:r>
              <a:rPr lang="ru-RU" sz="1800" dirty="0">
                <a:effectLst/>
                <a:latin typeface="Times New Roman" panose="02020603050405020304" pitchFamily="18" charset="0"/>
                <a:ea typeface="Aptos"/>
              </a:rPr>
              <a:t>≥</a:t>
            </a:r>
            <a:r>
              <a:rPr lang="en-US" dirty="0"/>
              <a:t> 15Db</a:t>
            </a:r>
          </a:p>
          <a:p>
            <a:pPr lvl="1"/>
            <a:r>
              <a:rPr lang="en-US" dirty="0"/>
              <a:t>Absence of critical artifacts affecting </a:t>
            </a:r>
            <a:r>
              <a:rPr lang="en-US" dirty="0" err="1"/>
              <a:t>TAPe</a:t>
            </a:r>
            <a:r>
              <a:rPr lang="en-US" dirty="0"/>
              <a:t> functionality</a:t>
            </a:r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D7E6C99-A9CC-4AAC-B162-3FF789E11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D4BE3-3513-4E81-8ABA-C9BBC19AD150}" type="slidenum">
              <a:rPr lang="ru-RU" smtClean="0"/>
              <a:pPr/>
              <a:t>13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592648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46890C-ADAE-4499-8793-61906B2C2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 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C790DA5-2B5A-4157-BB87-31E90EEC24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dirty="0" err="1"/>
              <a:t>Akyazi</a:t>
            </a:r>
            <a:r>
              <a:rPr lang="en-US" dirty="0"/>
              <a:t>, P., &amp; Ebrahimi, T. (2018). Comparison of Compression Efficiency between HEVC/H.265, VP9 and AV1 based on Subjective Quality Assessments. IEEE, 1–6. https://doi.org/10.1109/qomex.2018.8463294</a:t>
            </a:r>
          </a:p>
          <a:p>
            <a:r>
              <a:rPr lang="en-US" dirty="0"/>
              <a:t>Alliance for Open Media. (2021). AV1 bitstream &amp; decoding process specification (Version 1.0.0-errata1). https://aomediacodec.github.io/av1-spec/av1-spec.pdf</a:t>
            </a:r>
          </a:p>
          <a:p>
            <a:r>
              <a:rPr lang="en-US" dirty="0"/>
              <a:t>Chen, Y., </a:t>
            </a:r>
            <a:r>
              <a:rPr lang="en-US" dirty="0" err="1"/>
              <a:t>Murherjee</a:t>
            </a:r>
            <a:r>
              <a:rPr lang="en-US" dirty="0"/>
              <a:t>, D., Han, J., Grange, A., Xu, Y., Liu, Z., Parker, S., Chen, C., </a:t>
            </a:r>
            <a:r>
              <a:rPr lang="en-US" dirty="0" err="1"/>
              <a:t>Su</a:t>
            </a:r>
            <a:r>
              <a:rPr lang="en-US" dirty="0"/>
              <a:t>, H., Joshi, U., Chiang, C., Wang, Y., Wilkins, P., </a:t>
            </a:r>
            <a:r>
              <a:rPr lang="en-US" dirty="0" err="1"/>
              <a:t>Bankoski</a:t>
            </a:r>
            <a:r>
              <a:rPr lang="en-US" dirty="0"/>
              <a:t>, J., Trudeau, L., </a:t>
            </a:r>
            <a:r>
              <a:rPr lang="en-US" dirty="0" err="1"/>
              <a:t>Egge</a:t>
            </a:r>
            <a:r>
              <a:rPr lang="en-US" dirty="0"/>
              <a:t>, N., Valin, J., Davies, T., </a:t>
            </a:r>
            <a:r>
              <a:rPr lang="en-US" dirty="0" err="1"/>
              <a:t>Midtskogen</a:t>
            </a:r>
            <a:r>
              <a:rPr lang="en-US" dirty="0"/>
              <a:t>, S., . . . De </a:t>
            </a:r>
            <a:r>
              <a:rPr lang="en-US" dirty="0" err="1"/>
              <a:t>Rivaz</a:t>
            </a:r>
            <a:r>
              <a:rPr lang="en-US" dirty="0"/>
              <a:t>, P. (2018). An Overview of Core Coding Tools in the AV1 Video Codec. IEEE, 41–45. https://doi.org/10.1109/pcs.2018.8456249</a:t>
            </a:r>
          </a:p>
          <a:p>
            <a:r>
              <a:rPr lang="en-US" dirty="0"/>
              <a:t>Guo, B., Han, Y., &amp; Wen, J. (2018). Fast Block Structure Determination in Av1-Based Multiple Resolutions Video Encoding. IEEE, 1–6. https://doi.org/10.1109/icme.2018.8486492</a:t>
            </a:r>
          </a:p>
          <a:p>
            <a:r>
              <a:rPr lang="en-US" dirty="0"/>
              <a:t>ITU-T. (2021). Advanced video coding for generic audiovisual services (Recommendation ITU-T H.264). International Telecommunication Union. https://www.itu.int/rec/T-REC-H.264/en</a:t>
            </a:r>
          </a:p>
          <a:p>
            <a:r>
              <a:rPr lang="en-US" dirty="0"/>
              <a:t>Han, J., Li, B., Mukherjee, D., Chiang, C., Grange, A., Chen, C., </a:t>
            </a:r>
            <a:r>
              <a:rPr lang="en-US" dirty="0" err="1"/>
              <a:t>Su</a:t>
            </a:r>
            <a:r>
              <a:rPr lang="en-US" dirty="0"/>
              <a:t>, H., Parker, S., Deng, S., Joshi, U., Chen, Y., Wang, Y., Wilkins, P., Xu, Y., &amp; </a:t>
            </a:r>
            <a:r>
              <a:rPr lang="en-US" dirty="0" err="1"/>
              <a:t>Bankoski</a:t>
            </a:r>
            <a:r>
              <a:rPr lang="en-US" dirty="0"/>
              <a:t>, J. (2021). A technical overview of AV1. Proceedings of the IEEE, 109(9), 1435–1462. https://doi.org/10.1109/jproc.2021.3058584</a:t>
            </a:r>
          </a:p>
          <a:p>
            <a:r>
              <a:rPr lang="en-US" dirty="0" err="1"/>
              <a:t>Moroz</a:t>
            </a:r>
            <a:r>
              <a:rPr lang="en-US" dirty="0"/>
              <a:t>, L., &amp; </a:t>
            </a:r>
            <a:r>
              <a:rPr lang="en-US" dirty="0" err="1"/>
              <a:t>Samotyy</a:t>
            </a:r>
            <a:r>
              <a:rPr lang="en-US" dirty="0"/>
              <a:t>, V. (2018). Efficient Floating-Point Division for Digital Signal Processing Application [Tips &amp; Tricks]. IEEE Signal Processing Magazine, 36(1), 159–163. https://doi.org/10.1109/msp.2018.2875977</a:t>
            </a:r>
          </a:p>
          <a:p>
            <a:r>
              <a:rPr lang="en-US" dirty="0"/>
              <a:t>Ren, J., &amp; </a:t>
            </a:r>
            <a:r>
              <a:rPr lang="en-US" dirty="0" err="1"/>
              <a:t>Kehtarnavaz</a:t>
            </a:r>
            <a:r>
              <a:rPr lang="en-US" dirty="0"/>
              <a:t>, N. (2007). Algorithmic Optimization for H.264 Deblocking Filter on Portable Devices. IEEE, 15, 1–6. https://doi.org/10.1109/isce.2007.4382168</a:t>
            </a:r>
          </a:p>
          <a:p>
            <a:r>
              <a:rPr lang="en-US" dirty="0"/>
              <a:t>Richardson, I. E. (2010). The H.264 Advanced Video Compression Standard. https://doi.org/10.1002/9780470989418</a:t>
            </a:r>
          </a:p>
          <a:p>
            <a:r>
              <a:rPr lang="en-US" dirty="0"/>
              <a:t>Yi, Y., &amp; Song, B. C. (2008). High-Speed CAVLC encoder for 1080p 60-Hz H.264 </a:t>
            </a:r>
            <a:r>
              <a:rPr lang="en-US" dirty="0" err="1"/>
              <a:t>CodeC</a:t>
            </a:r>
            <a:r>
              <a:rPr lang="en-US" dirty="0"/>
              <a:t>. IEEE Signal Processing Letters, 15, 891–894. https://doi.org/10.1109/lsp.2008.2001982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F54481-B7A4-45FF-A139-785FCE6C3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D4BE3-3513-4E81-8ABA-C9BBC19AD150}" type="slidenum">
              <a:rPr lang="ru-RU" smtClean="0"/>
              <a:pPr/>
              <a:t>14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406453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29D83D-8EF3-44BA-A01F-3BD34EF2E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 for your attention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C27EE61-892C-4AC7-BCC2-10E5402018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20557" cy="4351338"/>
          </a:xfrm>
        </p:spPr>
        <p:txBody>
          <a:bodyPr>
            <a:noAutofit/>
          </a:bodyPr>
          <a:lstStyle/>
          <a:p>
            <a:r>
              <a:rPr lang="en-US" sz="1500" dirty="0">
                <a:hlinkClick r:id="rId2" action="ppaction://hlinksldjump"/>
              </a:rPr>
              <a:t>Introduction</a:t>
            </a:r>
            <a:endParaRPr lang="en-US" sz="1500" dirty="0"/>
          </a:p>
          <a:p>
            <a:r>
              <a:rPr lang="en-US" sz="1500" dirty="0">
                <a:hlinkClick r:id="rId3" action="ppaction://hlinksldjump"/>
              </a:rPr>
              <a:t>Research progress</a:t>
            </a:r>
            <a:endParaRPr lang="en-US" sz="1500" dirty="0"/>
          </a:p>
          <a:p>
            <a:r>
              <a:rPr lang="en-US" sz="1500" dirty="0">
                <a:hlinkClick r:id="rId4" action="ppaction://hlinksldjump"/>
              </a:rPr>
              <a:t>Theoretical background</a:t>
            </a:r>
            <a:endParaRPr lang="en-US" sz="1500" dirty="0"/>
          </a:p>
          <a:p>
            <a:r>
              <a:rPr lang="en-US" sz="1500" dirty="0">
                <a:hlinkClick r:id="rId5" action="ppaction://hlinksldjump"/>
              </a:rPr>
              <a:t>Methodological base</a:t>
            </a:r>
            <a:endParaRPr lang="en-US" sz="1500" dirty="0"/>
          </a:p>
          <a:p>
            <a:r>
              <a:rPr lang="en-US" sz="1500" dirty="0">
                <a:hlinkClick r:id="rId6" action="ppaction://hlinksldjump"/>
              </a:rPr>
              <a:t>Expected results</a:t>
            </a:r>
            <a:endParaRPr lang="en-US" sz="1500" dirty="0"/>
          </a:p>
          <a:p>
            <a:endParaRPr lang="en-US" sz="1500" dirty="0"/>
          </a:p>
          <a:p>
            <a:endParaRPr lang="ru-RU" sz="1500" dirty="0"/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D9797F38-9761-40D7-B6FF-89BBD925E2FA}"/>
              </a:ext>
            </a:extLst>
          </p:cNvPr>
          <p:cNvSpPr txBox="1">
            <a:spLocks/>
          </p:cNvSpPr>
          <p:nvPr/>
        </p:nvSpPr>
        <p:spPr>
          <a:xfrm>
            <a:off x="6343835" y="1825625"/>
            <a:ext cx="542055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500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4D7C9D7-B9FF-4A09-9580-B3B45CE59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D4BE3-3513-4E81-8ABA-C9BBC19AD150}" type="slidenum">
              <a:rPr lang="ru-RU" smtClean="0"/>
              <a:pPr/>
              <a:t>15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3865759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2040</TotalTime>
  <Words>1222</Words>
  <Application>Microsoft Office PowerPoint</Application>
  <PresentationFormat>Широкоэкранный</PresentationFormat>
  <Paragraphs>109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4" baseType="lpstr">
      <vt:lpstr>Anthropic Sans</vt:lpstr>
      <vt:lpstr>Arial</vt:lpstr>
      <vt:lpstr>Calibri</vt:lpstr>
      <vt:lpstr>Calibri Light</vt:lpstr>
      <vt:lpstr>Consolas</vt:lpstr>
      <vt:lpstr>Google Sans</vt:lpstr>
      <vt:lpstr>Times New Roman</vt:lpstr>
      <vt:lpstr>Wingdings</vt:lpstr>
      <vt:lpstr>Тема Office</vt:lpstr>
      <vt:lpstr>DEVELOPMENT OF A SYSTEM FOR FAST VIDEO DECODING IN AV1 FORMAT</vt:lpstr>
      <vt:lpstr>Introduction</vt:lpstr>
      <vt:lpstr>Relevance and hypothesis</vt:lpstr>
      <vt:lpstr>Research progress</vt:lpstr>
      <vt:lpstr>Theoretical background</vt:lpstr>
      <vt:lpstr>Interpolation</vt:lpstr>
      <vt:lpstr>DF (Deblocking Filter)</vt:lpstr>
      <vt:lpstr>CDEF (Constrained Directional Enhancement Filter)</vt:lpstr>
      <vt:lpstr>Lookup tables</vt:lpstr>
      <vt:lpstr>Methodological base</vt:lpstr>
      <vt:lpstr>Metrics used</vt:lpstr>
      <vt:lpstr>Plan of the practice part</vt:lpstr>
      <vt:lpstr>Expected results</vt:lpstr>
      <vt:lpstr>References </vt:lpstr>
      <vt:lpstr>Thank you for your attention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DEVELOPMENT OF A SYSTEM FOR FAST VIDEO DECODING IN AV1 FORMAT Project proposal</dc:title>
  <dc:creator>1</dc:creator>
  <cp:lastModifiedBy>1</cp:lastModifiedBy>
  <cp:revision>56</cp:revision>
  <dcterms:created xsi:type="dcterms:W3CDTF">2026-03-18T14:54:00Z</dcterms:created>
  <dcterms:modified xsi:type="dcterms:W3CDTF">2026-03-24T05:00:48Z</dcterms:modified>
</cp:coreProperties>
</file>