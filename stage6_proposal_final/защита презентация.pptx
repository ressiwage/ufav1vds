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sldIdLst>
    <p:sldId id="271" r:id="rId5"/>
    <p:sldId id="272" r:id="rId6"/>
    <p:sldId id="286" r:id="rId7"/>
    <p:sldId id="287" r:id="rId8"/>
    <p:sldId id="288" r:id="rId9"/>
    <p:sldId id="289" r:id="rId10"/>
    <p:sldId id="290" r:id="rId11"/>
    <p:sldId id="297" r:id="rId12"/>
    <p:sldId id="299" r:id="rId13"/>
    <p:sldId id="298" r:id="rId14"/>
    <p:sldId id="291" r:id="rId15"/>
    <p:sldId id="295" r:id="rId16"/>
    <p:sldId id="296" r:id="rId17"/>
    <p:sldId id="300" r:id="rId18"/>
    <p:sldId id="301" r:id="rId19"/>
    <p:sldId id="293" r:id="rId20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главление" id="{62F8E072-4E58-41B1-83C0-2329993A735E}">
          <p14:sldIdLst>
            <p14:sldId id="271"/>
          </p14:sldIdLst>
        </p14:section>
        <p14:section name="актуальность" id="{54C8C715-4645-4804-928F-694324AA3E7B}">
          <p14:sldIdLst>
            <p14:sldId id="272"/>
          </p14:sldIdLst>
        </p14:section>
        <p14:section name="цели" id="{82AE2BB3-4604-4999-8DBC-1A67E32AAD65}">
          <p14:sldIdLst>
            <p14:sldId id="286"/>
          </p14:sldIdLst>
        </p14:section>
        <p14:section name="проблемный вопрос" id="{25EF1789-BF5B-4D4F-A2FA-D21EFD6B3229}">
          <p14:sldIdLst>
            <p14:sldId id="287"/>
          </p14:sldIdLst>
        </p14:section>
        <p14:section name="объект исследования" id="{9C1E9C51-2F34-43E1-A3B3-5C07B54D682D}">
          <p14:sldIdLst>
            <p14:sldId id="288"/>
          </p14:sldIdLst>
        </p14:section>
        <p14:section name="задачи" id="{D9FE1334-3B8D-4F1A-B121-DBCF32A83484}">
          <p14:sldIdLst>
            <p14:sldId id="289"/>
          </p14:sldIdLst>
        </p14:section>
        <p14:section name="раздел результаты" id="{122E98C3-AED6-4010-9D1D-FFC451F3222D}">
          <p14:sldIdLst>
            <p14:sldId id="290"/>
          </p14:sldIdLst>
        </p14:section>
        <p14:section name="подготовка" id="{A76B93D6-5F0E-40AB-90C9-1B4FA08F4789}">
          <p14:sldIdLst>
            <p14:sldId id="297"/>
            <p14:sldId id="299"/>
            <p14:sldId id="298"/>
          </p14:sldIdLst>
        </p14:section>
        <p14:section name="архитектура" id="{B8AC9FF5-FD8F-45CA-8F77-3C4BFC9BD1B3}">
          <p14:sldIdLst>
            <p14:sldId id="291"/>
            <p14:sldId id="295"/>
            <p14:sldId id="296"/>
            <p14:sldId id="300"/>
            <p14:sldId id="301"/>
          </p14:sldIdLst>
        </p14:section>
        <p14:section name="конец" id="{FB9F9E05-1E8D-4FFB-BBD1-C25107250178}">
          <p14:sldIdLst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0CB7"/>
    <a:srgbClr val="029C63"/>
    <a:srgbClr val="96628C"/>
    <a:srgbClr val="11A0D7"/>
    <a:srgbClr val="E61F3D"/>
    <a:srgbClr val="CD5A5A"/>
    <a:srgbClr val="FFD746"/>
    <a:srgbClr val="0E2D69"/>
    <a:srgbClr val="D9D9D9"/>
    <a:srgbClr val="EB68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07" autoAdjust="0"/>
    <p:restoredTop sz="94519" autoAdjust="0"/>
  </p:normalViewPr>
  <p:slideViewPr>
    <p:cSldViewPr snapToGrid="0" snapToObjects="1">
      <p:cViewPr varScale="1">
        <p:scale>
          <a:sx n="68" d="100"/>
          <a:sy n="68" d="100"/>
        </p:scale>
        <p:origin x="1020" y="60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03/24/2026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pPr/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0B733F-7155-23EB-AD12-9D9AEDADF4FD}"/>
              </a:ext>
            </a:extLst>
          </p:cNvPr>
          <p:cNvSpPr txBox="1"/>
          <p:nvPr userDrawn="1"/>
        </p:nvSpPr>
        <p:spPr>
          <a:xfrm>
            <a:off x="10838772" y="514816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>
                <a:solidFill>
                  <a:srgbClr val="102D69"/>
                </a:solidFill>
                <a:latin typeface="HSE Sans" panose="02000000000000000000" pitchFamily="2" charset="0"/>
              </a:rPr>
              <a:t>/</a:t>
            </a:r>
            <a:r>
              <a:rPr lang="ru-RU" sz="2000" dirty="0">
                <a:solidFill>
                  <a:srgbClr val="102D69"/>
                </a:solidFill>
                <a:latin typeface="HSE Sans" panose="02000000000000000000" pitchFamily="2" charset="0"/>
              </a:rPr>
              <a:t>   12</a:t>
            </a: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en-RU" smtClean="0"/>
              <a:t>03/24/2026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slide" Target="slide1.xml"/><Relationship Id="rId18" Type="http://schemas.openxmlformats.org/officeDocument/2006/relationships/slide" Target="slide6.xml"/><Relationship Id="rId3" Type="http://schemas.openxmlformats.org/officeDocument/2006/relationships/image" Target="../media/image10.png"/><Relationship Id="rId21" Type="http://schemas.openxmlformats.org/officeDocument/2006/relationships/slide" Target="slide11.xml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slide" Target="slide5.xml"/><Relationship Id="rId2" Type="http://schemas.openxmlformats.org/officeDocument/2006/relationships/image" Target="../media/image9.png"/><Relationship Id="rId16" Type="http://schemas.openxmlformats.org/officeDocument/2006/relationships/slide" Target="slide4.xml"/><Relationship Id="rId20" Type="http://schemas.openxmlformats.org/officeDocument/2006/relationships/slide" Target="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slide" Target="slide3.xml"/><Relationship Id="rId10" Type="http://schemas.openxmlformats.org/officeDocument/2006/relationships/image" Target="../media/image17.png"/><Relationship Id="rId19" Type="http://schemas.openxmlformats.org/officeDocument/2006/relationships/slide" Target="slide7.xml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slide" Target="slide2.xml"/><Relationship Id="rId22" Type="http://schemas.openxmlformats.org/officeDocument/2006/relationships/slide" Target="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2056576"/>
            <a:ext cx="7634059" cy="1974826"/>
          </a:xfrm>
        </p:spPr>
        <p:txBody>
          <a:bodyPr>
            <a:normAutofit/>
          </a:bodyPr>
          <a:lstStyle/>
          <a:p>
            <a:r>
              <a:rPr lang="en-US" dirty="0"/>
              <a:t>DEVELOPMENT OF A SYSTEM FOR FAST VIDEO DECODING IN AV1 FORMAT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74947" y="1187841"/>
            <a:ext cx="3848717" cy="628927"/>
          </a:xfrm>
        </p:spPr>
        <p:txBody>
          <a:bodyPr/>
          <a:lstStyle/>
          <a:p>
            <a:r>
              <a:rPr lang="en-US" sz="1800" dirty="0"/>
              <a:t>Faculty of social  economic and computer science</a:t>
            </a:r>
            <a:endParaRPr lang="ru-RU" sz="18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Department of informational technology in business</a:t>
            </a:r>
            <a:endParaRPr lang="ru-RU" sz="14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Perm</a:t>
            </a:r>
          </a:p>
          <a:p>
            <a:r>
              <a:rPr lang="en-US" sz="1400" dirty="0"/>
              <a:t>2026</a:t>
            </a:r>
            <a:endParaRPr lang="ru-RU" sz="14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19175" y="3951111"/>
            <a:ext cx="7625267" cy="1621158"/>
          </a:xfrm>
        </p:spPr>
        <p:txBody>
          <a:bodyPr>
            <a:noAutofit/>
          </a:bodyPr>
          <a:lstStyle/>
          <a:p>
            <a:r>
              <a:rPr lang="en-US" sz="1800" dirty="0"/>
              <a:t>Project proposal</a:t>
            </a:r>
            <a:endParaRPr lang="en-US" sz="2800" dirty="0"/>
          </a:p>
          <a:p>
            <a:r>
              <a:rPr lang="en-US" sz="2800" dirty="0"/>
              <a:t>performed by Ilya </a:t>
            </a:r>
            <a:r>
              <a:rPr lang="en-US" sz="2800" dirty="0" err="1"/>
              <a:t>Bersenyov</a:t>
            </a:r>
            <a:r>
              <a:rPr lang="en-US" sz="2800" dirty="0"/>
              <a:t>, ISD-22-2</a:t>
            </a:r>
          </a:p>
          <a:p>
            <a:r>
              <a:rPr lang="en-US" sz="2800" dirty="0"/>
              <a:t>Supervisor: V. V. </a:t>
            </a:r>
            <a:r>
              <a:rPr lang="en-US" sz="2800" dirty="0" err="1"/>
              <a:t>Lanin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600" dirty="0"/>
              <a:t>Introduction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2587502"/>
            <a:ext cx="5673995" cy="3393234"/>
          </a:xfrm>
        </p:spPr>
        <p:txBody>
          <a:bodyPr>
            <a:normAutofit fontScale="62500" lnSpcReduction="20000"/>
          </a:bodyPr>
          <a:lstStyle/>
          <a:p>
            <a:r>
              <a:rPr lang="en-US" sz="4800" dirty="0" err="1"/>
              <a:t>TAPe</a:t>
            </a:r>
            <a:r>
              <a:rPr lang="en-US" sz="4800" dirty="0"/>
              <a:t> indexer is something like a one-way video encoder</a:t>
            </a:r>
          </a:p>
          <a:p>
            <a:r>
              <a:rPr lang="en-US" sz="4800" dirty="0"/>
              <a:t>Cause: </a:t>
            </a:r>
            <a:r>
              <a:rPr lang="en-US" sz="4800" dirty="0" err="1"/>
              <a:t>TAPe</a:t>
            </a:r>
            <a:r>
              <a:rPr lang="en-US" sz="4800" dirty="0"/>
              <a:t> average time to index is about 24 times faster than to decode a video</a:t>
            </a:r>
          </a:p>
          <a:p>
            <a:r>
              <a:rPr lang="en-US" sz="4800" dirty="0"/>
              <a:t>Effect: a large bottleneck in </a:t>
            </a:r>
            <a:r>
              <a:rPr lang="en-US" sz="4800" dirty="0" err="1"/>
              <a:t>TAPe’s</a:t>
            </a:r>
            <a:r>
              <a:rPr lang="en-US" sz="4800" dirty="0"/>
              <a:t> current pipeline</a:t>
            </a:r>
          </a:p>
          <a:p>
            <a:r>
              <a:rPr lang="en-US" sz="4800" dirty="0"/>
              <a:t>Goal: close the gap</a:t>
            </a:r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0904"/>
            <a:ext cx="1901825" cy="544199"/>
          </a:xfrm>
        </p:spPr>
        <p:txBody>
          <a:bodyPr/>
          <a:lstStyle/>
          <a:p>
            <a:r>
              <a:rPr lang="en-US" sz="1200" dirty="0"/>
              <a:t>Faculty of social  economic and computer science</a:t>
            </a:r>
            <a:endParaRPr lang="ru-RU" sz="12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200" dirty="0"/>
              <a:t>Разработка сервиса для классификации степени артроза по рентген снимкам</a:t>
            </a:r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200" dirty="0" err="1"/>
              <a:t>Берсенёв</a:t>
            </a:r>
            <a:r>
              <a:rPr lang="ru-RU" sz="1200" dirty="0"/>
              <a:t> И.И</a:t>
            </a: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D62D0FA2-2E84-43F8-A0AB-24A130F4C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8004" y="4426286"/>
            <a:ext cx="5673996" cy="2431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357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8625009" cy="777025"/>
          </a:xfrm>
        </p:spPr>
        <p:txBody>
          <a:bodyPr>
            <a:normAutofit fontScale="90000"/>
          </a:bodyPr>
          <a:lstStyle/>
          <a:p>
            <a:r>
              <a:rPr lang="en-US" sz="6600" u="sng" dirty="0"/>
              <a:t>Relevance and hypothesis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0904"/>
            <a:ext cx="1901825" cy="544199"/>
          </a:xfrm>
        </p:spPr>
        <p:txBody>
          <a:bodyPr/>
          <a:lstStyle/>
          <a:p>
            <a:r>
              <a:rPr lang="en-US" sz="1200" dirty="0"/>
              <a:t>Faculty of social  economic and computer science</a:t>
            </a:r>
            <a:endParaRPr lang="ru-RU" sz="12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200" dirty="0"/>
              <a:t>Разработка сервиса для классификации степени артроза по рентген снимкам</a:t>
            </a:r>
          </a:p>
          <a:p>
            <a:endParaRPr lang="ru-RU" sz="1200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200" dirty="0" err="1"/>
              <a:t>Берсенёв</a:t>
            </a:r>
            <a:r>
              <a:rPr lang="ru-RU" sz="1200" dirty="0"/>
              <a:t> И.И</a:t>
            </a: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083D01EF-7C79-4786-A4C7-72306793B5D2}"/>
              </a:ext>
            </a:extLst>
          </p:cNvPr>
          <p:cNvSpPr txBox="1">
            <a:spLocks/>
          </p:cNvSpPr>
          <p:nvPr/>
        </p:nvSpPr>
        <p:spPr>
          <a:xfrm>
            <a:off x="838200" y="3724507"/>
            <a:ext cx="10515600" cy="2452455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Research aim </a:t>
            </a:r>
            <a:r>
              <a:rPr lang="en-US" dirty="0"/>
              <a:t>is to design, implement and evaluate algorithmic </a:t>
            </a:r>
            <a:r>
              <a:rPr lang="en-US" dirty="0" err="1"/>
              <a:t>optimisations</a:t>
            </a:r>
            <a:r>
              <a:rPr lang="en-US" dirty="0"/>
              <a:t> for AV1 decoding at ultra-low output resolution in a single-threaded environment.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Hypothesis</a:t>
            </a:r>
            <a:r>
              <a:rPr lang="en-US" dirty="0"/>
              <a:t>: Targeted algorithmic changes to the bottleneck stages of </a:t>
            </a:r>
            <a:r>
              <a:rPr lang="en-US" dirty="0" err="1"/>
              <a:t>Libaom</a:t>
            </a:r>
            <a:r>
              <a:rPr lang="en-US" dirty="0"/>
              <a:t> can reduce total system decoding time by 30–50 % while preserving acceptable video quality (PSNR ≥ 15 dB).</a:t>
            </a:r>
            <a:endParaRPr lang="ru-RU" dirty="0"/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1F246892-E2B7-4A27-BD5C-A8E1E29ACBE6}"/>
              </a:ext>
            </a:extLst>
          </p:cNvPr>
          <p:cNvSpPr txBox="1">
            <a:spLocks/>
          </p:cNvSpPr>
          <p:nvPr/>
        </p:nvSpPr>
        <p:spPr>
          <a:xfrm>
            <a:off x="937507" y="2396894"/>
            <a:ext cx="4591756" cy="1450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Object of study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libaom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– the reference AV1 decoder </a:t>
            </a:r>
          </a:p>
          <a:p>
            <a:pPr marL="0" indent="0">
              <a:lnSpc>
                <a:spcPct val="50000"/>
              </a:lnSpc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(spec v1.0.0 errata 1)</a:t>
            </a: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A5AFCF61-BD01-48F6-866C-CAA375FDCD3D}"/>
              </a:ext>
            </a:extLst>
          </p:cNvPr>
          <p:cNvSpPr txBox="1">
            <a:spLocks/>
          </p:cNvSpPr>
          <p:nvPr/>
        </p:nvSpPr>
        <p:spPr>
          <a:xfrm>
            <a:off x="5529263" y="2408182"/>
            <a:ext cx="4591756" cy="14506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000" dirty="0"/>
              <a:t>Subject of study</a:t>
            </a:r>
          </a:p>
          <a:p>
            <a:pPr marL="0" indent="0" algn="l">
              <a:buNone/>
            </a:pPr>
            <a:r>
              <a:rPr lang="en-US" sz="2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nthropic Sans"/>
              </a:rPr>
              <a:t>Decoding performance at 64 px output, single-threaded, no CUDA</a:t>
            </a:r>
          </a:p>
          <a:p>
            <a:pPr marL="0" indent="0">
              <a:buNone/>
            </a:pPr>
            <a:br>
              <a:rPr lang="en-US" sz="1200" b="0" i="0" dirty="0">
                <a:solidFill>
                  <a:srgbClr val="000000"/>
                </a:solidFill>
                <a:effectLst/>
                <a:latin typeface="Anthropic Sans"/>
              </a:rPr>
            </a:b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565129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9717829" cy="777025"/>
          </a:xfrm>
        </p:spPr>
        <p:txBody>
          <a:bodyPr>
            <a:normAutofit fontScale="90000"/>
          </a:bodyPr>
          <a:lstStyle/>
          <a:p>
            <a:r>
              <a:rPr lang="en-US" sz="6600" dirty="0"/>
              <a:t>Research progress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6" y="2526317"/>
            <a:ext cx="7532191" cy="3393234"/>
          </a:xfrm>
        </p:spPr>
        <p:txBody>
          <a:bodyPr>
            <a:normAutofit fontScale="475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4800" dirty="0"/>
              <a:t>Functional and non-functional requirements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4800" dirty="0"/>
              <a:t>Analysis of the AV1 Decoding specification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4800" dirty="0"/>
              <a:t>Identification of bottlenecks in the standard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4800" dirty="0"/>
              <a:t>Identification of all the methods </a:t>
            </a:r>
            <a:r>
              <a:rPr lang="en-US" sz="4800" dirty="0">
                <a:effectLst/>
              </a:rPr>
              <a:t>to speed up the code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4800" dirty="0"/>
              <a:t>Choosing the technology stack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4800" dirty="0"/>
              <a:t>Designing the naive realization and the optimized realization</a:t>
            </a:r>
          </a:p>
          <a:p>
            <a:r>
              <a:rPr lang="en-US" sz="4800" dirty="0"/>
              <a:t>Implementing the realizations</a:t>
            </a:r>
          </a:p>
          <a:p>
            <a:r>
              <a:rPr lang="en-US" sz="4800" dirty="0"/>
              <a:t>Testing the realizations</a:t>
            </a:r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0904"/>
            <a:ext cx="1901825" cy="544199"/>
          </a:xfrm>
        </p:spPr>
        <p:txBody>
          <a:bodyPr/>
          <a:lstStyle/>
          <a:p>
            <a:r>
              <a:rPr lang="en-US" sz="1200" dirty="0"/>
              <a:t>Faculty of social  economic and computer science</a:t>
            </a:r>
            <a:endParaRPr lang="ru-RU" sz="12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200" dirty="0"/>
              <a:t>Разработка сервиса для классификации степени артроза по рентген снимкам</a:t>
            </a:r>
          </a:p>
          <a:p>
            <a:endParaRPr lang="ru-RU" sz="1200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200" dirty="0" err="1"/>
              <a:t>Берсенёв</a:t>
            </a:r>
            <a:r>
              <a:rPr lang="ru-RU" sz="1200" dirty="0"/>
              <a:t> И.И</a:t>
            </a:r>
          </a:p>
        </p:txBody>
      </p:sp>
    </p:spTree>
    <p:extLst>
      <p:ext uri="{BB962C8B-B14F-4D97-AF65-F5344CB8AC3E}">
        <p14:creationId xmlns:p14="http://schemas.microsoft.com/office/powerpoint/2010/main" val="2944744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0"/>
            <a:ext cx="9249478" cy="777025"/>
          </a:xfrm>
        </p:spPr>
        <p:txBody>
          <a:bodyPr>
            <a:normAutofit fontScale="90000"/>
          </a:bodyPr>
          <a:lstStyle/>
          <a:p>
            <a:r>
              <a:rPr lang="en-US" sz="6600" dirty="0"/>
              <a:t>T</a:t>
            </a:r>
            <a:r>
              <a:rPr lang="en-US" sz="6600" dirty="0">
                <a:effectLst/>
              </a:rPr>
              <a:t>heoretical background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6" y="2526317"/>
            <a:ext cx="6608987" cy="339323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4800" dirty="0"/>
              <a:t>The most resource-intensive components according to Chen et al. (2018):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/>
              <a:t>Interpolation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/>
              <a:t>Deblocking filter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/>
              <a:t>Constrained directional enhancement filter</a:t>
            </a:r>
          </a:p>
          <a:p>
            <a:pPr marL="0" indent="0">
              <a:buNone/>
            </a:pPr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0904"/>
            <a:ext cx="1901825" cy="544199"/>
          </a:xfrm>
        </p:spPr>
        <p:txBody>
          <a:bodyPr/>
          <a:lstStyle/>
          <a:p>
            <a:r>
              <a:rPr lang="ru-RU" sz="1200" dirty="0"/>
              <a:t>Факультет социально-экономических и компьютерных наук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200" dirty="0"/>
              <a:t>Разработка сервиса для классификации степени артроза по рентген снимкам</a:t>
            </a:r>
          </a:p>
          <a:p>
            <a:endParaRPr lang="ru-RU" sz="1200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200" dirty="0" err="1"/>
              <a:t>Берсенёв</a:t>
            </a:r>
            <a:r>
              <a:rPr lang="ru-RU" sz="1200" dirty="0"/>
              <a:t> И.И</a:t>
            </a:r>
          </a:p>
        </p:txBody>
      </p:sp>
    </p:spTree>
    <p:extLst>
      <p:ext uri="{BB962C8B-B14F-4D97-AF65-F5344CB8AC3E}">
        <p14:creationId xmlns:p14="http://schemas.microsoft.com/office/powerpoint/2010/main" val="2656751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0"/>
            <a:ext cx="6608986" cy="777025"/>
          </a:xfrm>
        </p:spPr>
        <p:txBody>
          <a:bodyPr>
            <a:normAutofit fontScale="90000"/>
          </a:bodyPr>
          <a:lstStyle/>
          <a:p>
            <a:r>
              <a:rPr lang="en-US" sz="6600" dirty="0"/>
              <a:t>Interpolation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6" y="2336800"/>
            <a:ext cx="6885715" cy="3582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Key point: it is very expensive.</a:t>
            </a:r>
          </a:p>
          <a:p>
            <a:pPr marL="0" indent="0">
              <a:buNone/>
            </a:pPr>
            <a:r>
              <a:rPr lang="en-US" sz="3200" dirty="0"/>
              <a:t>8 coefficients 1d interpolation is </a:t>
            </a:r>
            <a:r>
              <a:rPr lang="en-US" sz="3200" dirty="0">
                <a:effectLst/>
              </a:rPr>
              <a:t>the product of two vectors</a:t>
            </a:r>
            <a:r>
              <a:rPr lang="ru-RU" sz="3200" dirty="0">
                <a:effectLst/>
              </a:rPr>
              <a:t> </a:t>
            </a:r>
            <a:r>
              <a:rPr lang="en-US" sz="3200" dirty="0">
                <a:effectLst/>
              </a:rPr>
              <a:t>consisting of 8 numbers which is about </a:t>
            </a:r>
            <a:r>
              <a:rPr lang="ru-RU" sz="3200" b="1" dirty="0">
                <a:effectLst/>
              </a:rPr>
              <a:t>48 </a:t>
            </a:r>
            <a:r>
              <a:rPr lang="en-US" sz="3200" b="1" dirty="0">
                <a:effectLst/>
              </a:rPr>
              <a:t>CPU cycles </a:t>
            </a:r>
            <a:r>
              <a:rPr lang="en-US" sz="3200" dirty="0">
                <a:effectLst/>
              </a:rPr>
              <a:t>provided that multiplication takes 4 cycles and addition takes one cycle.</a:t>
            </a:r>
            <a:endParaRPr lang="ru-RU" sz="3200" dirty="0">
              <a:effectLst/>
            </a:endParaRPr>
          </a:p>
          <a:p>
            <a:pPr marL="0" indent="0">
              <a:buNone/>
            </a:pPr>
            <a:endParaRPr lang="ru-RU" sz="32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0904"/>
            <a:ext cx="1901825" cy="544199"/>
          </a:xfrm>
        </p:spPr>
        <p:txBody>
          <a:bodyPr/>
          <a:lstStyle/>
          <a:p>
            <a:r>
              <a:rPr lang="ru-RU" sz="1200" dirty="0"/>
              <a:t>Факультет социально-экономических и компьютерных наук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200" dirty="0"/>
              <a:t>Разработка сервиса для классификации степени артроза по рентген снимкам</a:t>
            </a:r>
          </a:p>
          <a:p>
            <a:endParaRPr lang="ru-RU" sz="1200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200" dirty="0" err="1"/>
              <a:t>Берсенёв</a:t>
            </a:r>
            <a:r>
              <a:rPr lang="ru-RU" sz="1200" dirty="0"/>
              <a:t> И.И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49A5B5B-351D-46C8-B098-413F46B56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9992" y="3429000"/>
            <a:ext cx="3421192" cy="334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219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0"/>
            <a:ext cx="6608986" cy="777025"/>
          </a:xfrm>
        </p:spPr>
        <p:txBody>
          <a:bodyPr>
            <a:normAutofit fontScale="90000"/>
          </a:bodyPr>
          <a:lstStyle/>
          <a:p>
            <a:r>
              <a:rPr lang="en-US" sz="6600" dirty="0"/>
              <a:t>DF (Deblocking Filter)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6" y="2526317"/>
            <a:ext cx="7744096" cy="33932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Key point: it is unnecessary in ultralow resolution.</a:t>
            </a:r>
          </a:p>
          <a:p>
            <a:pPr marL="0" indent="0">
              <a:buNone/>
            </a:pPr>
            <a:r>
              <a:rPr lang="en-US" sz="2400" dirty="0"/>
              <a:t>DF is a</a:t>
            </a:r>
            <a:r>
              <a:rPr lang="ru-RU" sz="2400" dirty="0"/>
              <a:t> </a:t>
            </a:r>
            <a:r>
              <a:rPr lang="en-US" sz="2400" dirty="0"/>
              <a:t>method of reducing the </a:t>
            </a:r>
            <a:r>
              <a:rPr lang="en-US" sz="2400" dirty="0" err="1"/>
              <a:t>blockiness</a:t>
            </a:r>
            <a:r>
              <a:rPr lang="en-US" sz="2400" dirty="0"/>
              <a:t> of an image but is unnecessary in 64px resolution.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ru-RU" sz="24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0904"/>
            <a:ext cx="1901825" cy="544199"/>
          </a:xfrm>
        </p:spPr>
        <p:txBody>
          <a:bodyPr/>
          <a:lstStyle/>
          <a:p>
            <a:r>
              <a:rPr lang="ru-RU" sz="1200" dirty="0"/>
              <a:t>Факультет социально-экономических и компьютерных наук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200" dirty="0"/>
              <a:t>Разработка сервиса для классификации степени артроза по рентген снимкам</a:t>
            </a:r>
          </a:p>
          <a:p>
            <a:endParaRPr lang="ru-RU" sz="1200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200" dirty="0" err="1"/>
              <a:t>Берсенёв</a:t>
            </a:r>
            <a:r>
              <a:rPr lang="ru-RU" sz="1200" dirty="0"/>
              <a:t> И.И</a:t>
            </a:r>
          </a:p>
        </p:txBody>
      </p:sp>
      <p:pic>
        <p:nvPicPr>
          <p:cNvPr id="9" name="Picture 2" descr="next generation video: Introducing AV1">
            <a:extLst>
              <a:ext uri="{FF2B5EF4-FFF2-40B4-BE49-F238E27FC236}">
                <a16:creationId xmlns:a16="http://schemas.microsoft.com/office/drawing/2014/main" id="{A4FD1CB6-51A8-44EE-9BA0-D9BEE213F3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88"/>
          <a:stretch/>
        </p:blipFill>
        <p:spPr bwMode="auto">
          <a:xfrm>
            <a:off x="5463822" y="4801257"/>
            <a:ext cx="6728178" cy="2056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140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0"/>
            <a:ext cx="11075524" cy="777025"/>
          </a:xfrm>
        </p:spPr>
        <p:txBody>
          <a:bodyPr>
            <a:normAutofit/>
          </a:bodyPr>
          <a:lstStyle/>
          <a:p>
            <a:r>
              <a:rPr lang="en-US" sz="2400" dirty="0"/>
              <a:t>CDEF (Constrained Directional Enhancement Filter)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0904"/>
            <a:ext cx="1901825" cy="544199"/>
          </a:xfrm>
        </p:spPr>
        <p:txBody>
          <a:bodyPr/>
          <a:lstStyle/>
          <a:p>
            <a:r>
              <a:rPr lang="ru-RU" sz="1200" dirty="0"/>
              <a:t>Факультет социально-экономических и компьютерных наук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200" dirty="0"/>
              <a:t>Разработка сервиса для классификации степени артроза по рентген снимкам</a:t>
            </a:r>
          </a:p>
          <a:p>
            <a:endParaRPr lang="ru-RU" sz="1200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200" dirty="0" err="1"/>
              <a:t>Берсенёв</a:t>
            </a:r>
            <a:r>
              <a:rPr lang="ru-RU" sz="1200" dirty="0"/>
              <a:t> И.И</a:t>
            </a:r>
          </a:p>
        </p:txBody>
      </p:sp>
      <p:sp>
        <p:nvSpPr>
          <p:cNvPr id="8" name="Объект 3">
            <a:extLst>
              <a:ext uri="{FF2B5EF4-FFF2-40B4-BE49-F238E27FC236}">
                <a16:creationId xmlns:a16="http://schemas.microsoft.com/office/drawing/2014/main" id="{08752BDF-B0EF-4D65-B1F9-395929D887A4}"/>
              </a:ext>
            </a:extLst>
          </p:cNvPr>
          <p:cNvSpPr txBox="1">
            <a:spLocks/>
          </p:cNvSpPr>
          <p:nvPr/>
        </p:nvSpPr>
        <p:spPr>
          <a:xfrm>
            <a:off x="530578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Key point: it is too expensive operation.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CDEF is applied after the DF and is being used to make transitions between the canvas smoother.</a:t>
            </a:r>
            <a:endParaRPr lang="ru-RU" dirty="0"/>
          </a:p>
        </p:txBody>
      </p:sp>
      <p:pic>
        <p:nvPicPr>
          <p:cNvPr id="9" name="Picture 2" descr="Кодек нового поколения AV1: корректирующий направленный фильтр CDEF / Хабр">
            <a:extLst>
              <a:ext uri="{FF2B5EF4-FFF2-40B4-BE49-F238E27FC236}">
                <a16:creationId xmlns:a16="http://schemas.microsoft.com/office/drawing/2014/main" id="{E56C5239-5200-40E6-B3D6-A6B63252E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14159" y="3685237"/>
            <a:ext cx="10515600" cy="317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555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0"/>
            <a:ext cx="11075524" cy="777025"/>
          </a:xfrm>
        </p:spPr>
        <p:txBody>
          <a:bodyPr>
            <a:normAutofit/>
          </a:bodyPr>
          <a:lstStyle/>
          <a:p>
            <a:r>
              <a:rPr lang="en-US" dirty="0"/>
              <a:t>Lookup tables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0904"/>
            <a:ext cx="1901825" cy="544199"/>
          </a:xfrm>
        </p:spPr>
        <p:txBody>
          <a:bodyPr/>
          <a:lstStyle/>
          <a:p>
            <a:r>
              <a:rPr lang="ru-RU" sz="1200" dirty="0"/>
              <a:t>Факультет социально-экономических и компьютерных наук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200" dirty="0"/>
              <a:t>Разработка сервиса для классификации степени артроза по рентген снимкам</a:t>
            </a:r>
          </a:p>
          <a:p>
            <a:endParaRPr lang="ru-RU" sz="1200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200" dirty="0" err="1"/>
              <a:t>Берсенёв</a:t>
            </a:r>
            <a:r>
              <a:rPr lang="ru-RU" sz="1200" dirty="0"/>
              <a:t> И.И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FE2DC84E-9357-4339-B25B-FCD37FDF83D8}"/>
              </a:ext>
            </a:extLst>
          </p:cNvPr>
          <p:cNvSpPr txBox="1">
            <a:spLocks/>
          </p:cNvSpPr>
          <p:nvPr/>
        </p:nvSpPr>
        <p:spPr>
          <a:xfrm>
            <a:off x="530578" y="2221640"/>
            <a:ext cx="10857089" cy="438326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Key point: it is faster than dynamic calculation but may lead to a lot of cache misses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Some values are “hard-coded” as arrays of values, where indexes are treated as function arguments.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Example: </a:t>
            </a:r>
            <a:endParaRPr lang="ru-RU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>
                <a:latin typeface="Consolas" panose="020B0609020204030204" pitchFamily="49" charset="0"/>
              </a:rPr>
              <a:t>double[] cos = {1.0,0.5,-0.4,-0.9,-0.7,0.2, …}; float x = cos[2];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Instead of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>
                <a:latin typeface="Consolas" panose="020B0609020204030204" pitchFamily="49" charset="0"/>
              </a:rPr>
              <a:t>double x = cos(2)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However, as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Yi &amp; Song (2008) state, excessive use may be harmful for the performance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94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0"/>
            <a:ext cx="11075524" cy="777025"/>
          </a:xfrm>
        </p:spPr>
        <p:txBody>
          <a:bodyPr>
            <a:normAutofit/>
          </a:bodyPr>
          <a:lstStyle/>
          <a:p>
            <a:r>
              <a:rPr lang="en-US" dirty="0"/>
              <a:t>Methodological base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0904"/>
            <a:ext cx="1901825" cy="544199"/>
          </a:xfrm>
        </p:spPr>
        <p:txBody>
          <a:bodyPr/>
          <a:lstStyle/>
          <a:p>
            <a:r>
              <a:rPr lang="ru-RU" sz="1200" dirty="0"/>
              <a:t>Факультет социально-экономических и компьютерных наук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200" dirty="0"/>
              <a:t>Разработка сервиса для классификации степени артроза по рентген снимкам</a:t>
            </a:r>
          </a:p>
          <a:p>
            <a:endParaRPr lang="ru-RU" sz="1200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200" dirty="0" err="1"/>
              <a:t>Берсенёв</a:t>
            </a:r>
            <a:r>
              <a:rPr lang="ru-RU" sz="1200" dirty="0"/>
              <a:t> И.И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08B59BBF-4495-4B36-A0D6-564B8D74B5F2}"/>
              </a:ext>
            </a:extLst>
          </p:cNvPr>
          <p:cNvSpPr txBox="1">
            <a:spLocks/>
          </p:cNvSpPr>
          <p:nvPr/>
        </p:nvSpPr>
        <p:spPr>
          <a:xfrm>
            <a:off x="530578" y="1900034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3D3D3A"/>
                </a:solidFill>
                <a:latin typeface="Anthropic Sans"/>
              </a:rPr>
              <a:t>Replacing lookup tables with algebraic expressions (Yi &amp; Song, 2008 — CAVLC for H.264): reduces memory footprint and eliminates cache misses on coefficient arrays.</a:t>
            </a:r>
          </a:p>
          <a:p>
            <a:r>
              <a:rPr lang="en-US">
                <a:solidFill>
                  <a:srgbClr val="3D3D3A"/>
                </a:solidFill>
                <a:latin typeface="Anthropic Sans"/>
              </a:rPr>
              <a:t>Bitwise arithmetic optimization — "magic constant" division (Moroz &amp; Samotyy, 2018): ≈30 % speedup on division-heavy interpolation paths.</a:t>
            </a:r>
          </a:p>
          <a:p>
            <a:r>
              <a:rPr lang="en-US">
                <a:solidFill>
                  <a:srgbClr val="3D3D3A"/>
                </a:solidFill>
                <a:latin typeface="Anthropic Sans"/>
              </a:rPr>
              <a:t>Context-adaptive filter bypassing (Ren &amp; Kehtarnavaz, 2007): skip costly post-processing steps when the target output is already ≤64 px.</a:t>
            </a:r>
          </a:p>
          <a:p>
            <a:r>
              <a:rPr lang="en-US">
                <a:solidFill>
                  <a:srgbClr val="3D3D3A"/>
                </a:solidFill>
                <a:latin typeface="Anthropic Sans"/>
              </a:rPr>
              <a:t>Bentley optimisation rules + CPU-cache layout improvements: spatial locality in pixel buffers, prefetch-friendly access patterns.</a:t>
            </a:r>
          </a:p>
          <a:p>
            <a:endParaRPr lang="en-US">
              <a:solidFill>
                <a:srgbClr val="3D3D3A"/>
              </a:solidFill>
              <a:latin typeface="Anthropic Sans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4799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8" y="1447790"/>
            <a:ext cx="11075524" cy="777025"/>
          </a:xfrm>
        </p:spPr>
        <p:txBody>
          <a:bodyPr>
            <a:normAutofit/>
          </a:bodyPr>
          <a:lstStyle/>
          <a:p>
            <a:r>
              <a:rPr lang="en-US" dirty="0"/>
              <a:t>Metrics used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0904"/>
            <a:ext cx="1901825" cy="544199"/>
          </a:xfrm>
        </p:spPr>
        <p:txBody>
          <a:bodyPr/>
          <a:lstStyle/>
          <a:p>
            <a:r>
              <a:rPr lang="ru-RU" sz="1200" dirty="0"/>
              <a:t>Факультет социально-экономических и компьютерных наук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200" dirty="0"/>
              <a:t>Разработка сервиса для классификации степени артроза по рентген снимкам</a:t>
            </a:r>
          </a:p>
          <a:p>
            <a:endParaRPr lang="ru-RU" sz="1200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200" dirty="0" err="1"/>
              <a:t>Берсенёв</a:t>
            </a:r>
            <a:r>
              <a:rPr lang="ru-RU" sz="1200" dirty="0"/>
              <a:t> И.И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BA9DB2-8456-4AA2-A14B-C58E6C22A0EA}"/>
              </a:ext>
            </a:extLst>
          </p:cNvPr>
          <p:cNvSpPr txBox="1"/>
          <p:nvPr/>
        </p:nvSpPr>
        <p:spPr>
          <a:xfrm>
            <a:off x="530578" y="1864915"/>
            <a:ext cx="1035301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Total time from the upload to the end of the decoding process</a:t>
            </a:r>
            <a:endParaRPr lang="ru-R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Time to decode a video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</a:rPr>
              <a:t>A frame-by-frame metric estimated by the difference in brightness between each pixel of the original frame and the decoded one</a:t>
            </a:r>
            <a:endParaRPr lang="ru-RU" sz="2800" dirty="0">
              <a:effectLst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1D35"/>
                </a:solidFill>
                <a:effectLst/>
                <a:latin typeface="Google Sans"/>
              </a:rPr>
              <a:t>Peak Signal-to-Noise Ratio (</a:t>
            </a:r>
            <a:r>
              <a:rPr lang="en-US" sz="2800" dirty="0"/>
              <a:t>PSNR)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Stability and reproducibility of the obtained optimizations for </a:t>
            </a:r>
            <a:r>
              <a:rPr lang="en-US" sz="2800" dirty="0" err="1"/>
              <a:t>Libaom</a:t>
            </a:r>
            <a:r>
              <a:rPr lang="en-US" sz="2800" dirty="0"/>
              <a:t>, confirmed by at least five test runs with the same input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Time to response in high load scenario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Compared to naive realization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744945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E21B9C9-562B-4627-8F3B-9483EDE90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6098755" cy="777025"/>
          </a:xfrm>
        </p:spPr>
        <p:txBody>
          <a:bodyPr/>
          <a:lstStyle/>
          <a:p>
            <a:r>
              <a:rPr lang="en-US" dirty="0"/>
              <a:t>Plan of the practice part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24FCFB8-F039-46FA-AE88-5E6625ACF6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200" dirty="0"/>
              <a:t>Факультет социально-экономических и компьютерных наук</a:t>
            </a:r>
          </a:p>
          <a:p>
            <a:endParaRPr lang="ru-RU" sz="1200" dirty="0"/>
          </a:p>
          <a:p>
            <a:endParaRPr lang="ru-RU" sz="12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E00EBD33-3F1B-4019-9689-F91493C4F8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200" dirty="0"/>
              <a:t>Разработка сервиса для классификации степени артроза по рентген снимкам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C910E82-6F47-4B12-B3BB-3C2ACE4C64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200" dirty="0" err="1"/>
              <a:t>Берсенёв</a:t>
            </a:r>
            <a:r>
              <a:rPr lang="ru-RU" sz="1200" dirty="0"/>
              <a:t> И.И</a:t>
            </a:r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1D634B-6CFD-41B7-9778-3F0C6D409E0C}"/>
              </a:ext>
            </a:extLst>
          </p:cNvPr>
          <p:cNvSpPr txBox="1"/>
          <p:nvPr/>
        </p:nvSpPr>
        <p:spPr>
          <a:xfrm>
            <a:off x="584936" y="2224815"/>
            <a:ext cx="929504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Implementing the naïve realization </a:t>
            </a:r>
          </a:p>
          <a:p>
            <a:r>
              <a:rPr lang="en-US" sz="2400" dirty="0"/>
              <a:t>Implementing the optimized realization</a:t>
            </a:r>
          </a:p>
          <a:p>
            <a:pPr lvl="1"/>
            <a:r>
              <a:rPr lang="en-US" sz="2400" dirty="0"/>
              <a:t>Lookup table</a:t>
            </a:r>
          </a:p>
          <a:p>
            <a:pPr lvl="1"/>
            <a:r>
              <a:rPr lang="en-US" sz="2400" dirty="0"/>
              <a:t>Cache-optimized buffer pixel layout</a:t>
            </a:r>
          </a:p>
          <a:p>
            <a:pPr lvl="1"/>
            <a:r>
              <a:rPr lang="en-US" sz="2400" dirty="0"/>
              <a:t>Analytic substitution (interpolation coefficients)</a:t>
            </a:r>
          </a:p>
          <a:p>
            <a:pPr lvl="1"/>
            <a:r>
              <a:rPr lang="en-US" sz="2400" dirty="0"/>
              <a:t>Skip/simplify CDEF and DF at 64 or less px output</a:t>
            </a:r>
          </a:p>
          <a:p>
            <a:r>
              <a:rPr lang="en-US" sz="2400" dirty="0"/>
              <a:t>Evaluating the realizations</a:t>
            </a:r>
            <a:endParaRPr lang="ru-RU" sz="2400" dirty="0"/>
          </a:p>
          <a:p>
            <a:pPr marL="0" inden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499545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E21B9C9-562B-4627-8F3B-9483EDE90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7598547" cy="777025"/>
          </a:xfrm>
        </p:spPr>
        <p:txBody>
          <a:bodyPr/>
          <a:lstStyle/>
          <a:p>
            <a:r>
              <a:rPr lang="en-US" dirty="0"/>
              <a:t>Expected results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24FCFB8-F039-46FA-AE88-5E6625ACF6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200" dirty="0"/>
              <a:t>Факультет социально-экономических и компьютерных наук</a:t>
            </a:r>
          </a:p>
          <a:p>
            <a:endParaRPr lang="ru-RU" sz="1200" dirty="0"/>
          </a:p>
          <a:p>
            <a:endParaRPr lang="ru-RU" sz="12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E00EBD33-3F1B-4019-9689-F91493C4F8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200" dirty="0"/>
              <a:t>Разработка сервиса для классификации степени артроза по рентген снимкам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C910E82-6F47-4B12-B3BB-3C2ACE4C64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200" dirty="0" err="1"/>
              <a:t>Берсенёв</a:t>
            </a:r>
            <a:r>
              <a:rPr lang="ru-RU" sz="1200" dirty="0"/>
              <a:t> И.И</a:t>
            </a:r>
          </a:p>
          <a:p>
            <a:endParaRPr lang="ru-RU" sz="1200" dirty="0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E3FB900B-A900-4EF7-9777-EF74DC6AF4D0}"/>
              </a:ext>
            </a:extLst>
          </p:cNvPr>
          <p:cNvSpPr txBox="1">
            <a:spLocks/>
          </p:cNvSpPr>
          <p:nvPr/>
        </p:nvSpPr>
        <p:spPr>
          <a:xfrm>
            <a:off x="585897" y="1911660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Total time to decode – 20-35% speed increasing</a:t>
            </a:r>
          </a:p>
          <a:p>
            <a:r>
              <a:rPr lang="en-US"/>
              <a:t>Time to decode – 30-50% speed increasing at minimum 5 runs</a:t>
            </a:r>
          </a:p>
          <a:p>
            <a:r>
              <a:rPr lang="en-US"/>
              <a:t>Confirmation of acceptable quality degradation</a:t>
            </a:r>
          </a:p>
          <a:p>
            <a:pPr lvl="1"/>
            <a:r>
              <a:rPr lang="en-US"/>
              <a:t>PSNR </a:t>
            </a:r>
            <a:r>
              <a:rPr lang="ru-RU" sz="1800">
                <a:latin typeface="Times New Roman" panose="02020603050405020304" pitchFamily="18" charset="0"/>
                <a:ea typeface="Aptos"/>
              </a:rPr>
              <a:t>≥</a:t>
            </a:r>
            <a:r>
              <a:rPr lang="en-US"/>
              <a:t> 15Db</a:t>
            </a:r>
          </a:p>
          <a:p>
            <a:pPr lvl="1"/>
            <a:r>
              <a:rPr lang="en-US"/>
              <a:t>Absence of critical artifacts affecting TAPe functionality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8027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E21B9C9-562B-4627-8F3B-9483EDE90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7598547" cy="777025"/>
          </a:xfrm>
        </p:spPr>
        <p:txBody>
          <a:bodyPr/>
          <a:lstStyle/>
          <a:p>
            <a:r>
              <a:rPr lang="en-US" dirty="0"/>
              <a:t>References 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24FCFB8-F039-46FA-AE88-5E6625ACF6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200" dirty="0"/>
              <a:t>Факультет социально-экономических и компьютерных наук</a:t>
            </a:r>
          </a:p>
          <a:p>
            <a:endParaRPr lang="ru-RU" sz="1200" dirty="0"/>
          </a:p>
          <a:p>
            <a:endParaRPr lang="ru-RU" sz="12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E00EBD33-3F1B-4019-9689-F91493C4F8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200" dirty="0"/>
              <a:t>Разработка сервиса для классификации степени артроза по рентген снимкам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C910E82-6F47-4B12-B3BB-3C2ACE4C64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200" dirty="0" err="1"/>
              <a:t>Берсенёв</a:t>
            </a:r>
            <a:r>
              <a:rPr lang="ru-RU" sz="1200" dirty="0"/>
              <a:t> И.И</a:t>
            </a:r>
          </a:p>
          <a:p>
            <a:endParaRPr lang="ru-RU" sz="1200" dirty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8651956C-33A1-4D2A-B99B-F32B6946C03F}"/>
              </a:ext>
            </a:extLst>
          </p:cNvPr>
          <p:cNvSpPr txBox="1">
            <a:spLocks/>
          </p:cNvSpPr>
          <p:nvPr/>
        </p:nvSpPr>
        <p:spPr>
          <a:xfrm>
            <a:off x="585897" y="1836302"/>
            <a:ext cx="10515600" cy="43513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 err="1"/>
              <a:t>Akyazi</a:t>
            </a:r>
            <a:r>
              <a:rPr lang="en-US" sz="1400" dirty="0"/>
              <a:t>, P., &amp; Ebrahimi, T. (2018). Comparison of Compression Efficiency between HEVC/H.265, VP9 and AV1 based on Subjective Quality Assessments. IEEE, 1–6. https://doi.org/10.1109/qomex.2018.8463294</a:t>
            </a:r>
          </a:p>
          <a:p>
            <a:r>
              <a:rPr lang="en-US" sz="1400" dirty="0"/>
              <a:t>Alliance for Open Media. (2021). AV1 bitstream &amp; decoding process specification (Version 1.0.0-errata1). https://aomediacodec.github.io/av1-spec/av1-spec.pdf</a:t>
            </a:r>
          </a:p>
          <a:p>
            <a:r>
              <a:rPr lang="en-US" sz="1400" dirty="0"/>
              <a:t>Chen, Y., </a:t>
            </a:r>
            <a:r>
              <a:rPr lang="en-US" sz="1400" dirty="0" err="1"/>
              <a:t>Murherjee</a:t>
            </a:r>
            <a:r>
              <a:rPr lang="en-US" sz="1400" dirty="0"/>
              <a:t>, D., Han, J., Grange, A., Xu, Y., Liu, Z., Parker, S., Chen, C., </a:t>
            </a:r>
            <a:r>
              <a:rPr lang="en-US" sz="1400" dirty="0" err="1"/>
              <a:t>Su</a:t>
            </a:r>
            <a:r>
              <a:rPr lang="en-US" sz="1400" dirty="0"/>
              <a:t>, H., Joshi, U., Chiang, C., Wang, Y., Wilkins, P., </a:t>
            </a:r>
            <a:r>
              <a:rPr lang="en-US" sz="1400" dirty="0" err="1"/>
              <a:t>Bankoski</a:t>
            </a:r>
            <a:r>
              <a:rPr lang="en-US" sz="1400" dirty="0"/>
              <a:t>, J., Trudeau, L., </a:t>
            </a:r>
            <a:r>
              <a:rPr lang="en-US" sz="1400" dirty="0" err="1"/>
              <a:t>Egge</a:t>
            </a:r>
            <a:r>
              <a:rPr lang="en-US" sz="1400" dirty="0"/>
              <a:t>, N., Valin, J., Davies, T., </a:t>
            </a:r>
            <a:r>
              <a:rPr lang="en-US" sz="1400" dirty="0" err="1"/>
              <a:t>Midtskogen</a:t>
            </a:r>
            <a:r>
              <a:rPr lang="en-US" sz="1400" dirty="0"/>
              <a:t>, S., . . . De </a:t>
            </a:r>
            <a:r>
              <a:rPr lang="en-US" sz="1400" dirty="0" err="1"/>
              <a:t>Rivaz</a:t>
            </a:r>
            <a:r>
              <a:rPr lang="en-US" sz="1400" dirty="0"/>
              <a:t>, P. (2018). An Overview of Core Coding Tools in the AV1 Video Codec. IEEE, 41–45. https://doi.org/10.1109/pcs.2018.8456249</a:t>
            </a:r>
          </a:p>
          <a:p>
            <a:r>
              <a:rPr lang="en-US" sz="1400" dirty="0"/>
              <a:t>Guo, B., Han, Y., &amp; Wen, J. (2018). Fast Block Structure Determination in Av1-Based Multiple Resolutions Video Encoding. IEEE, 1–6. https://doi.org/10.1109/icme.2018.8486492</a:t>
            </a:r>
          </a:p>
          <a:p>
            <a:r>
              <a:rPr lang="en-US" sz="1400" dirty="0"/>
              <a:t>ITU-T. (2021). Advanced video coding for generic audiovisual services (Recommendation ITU-T H.264). International Telecommunication Union. https://www.itu.int/rec/T-REC-H.264/en</a:t>
            </a:r>
          </a:p>
          <a:p>
            <a:r>
              <a:rPr lang="en-US" sz="1400" dirty="0"/>
              <a:t>Han, J., Li, B., Mukherjee, D., Chiang, C., Grange, A., Chen, C., </a:t>
            </a:r>
            <a:r>
              <a:rPr lang="en-US" sz="1400" dirty="0" err="1"/>
              <a:t>Su</a:t>
            </a:r>
            <a:r>
              <a:rPr lang="en-US" sz="1400" dirty="0"/>
              <a:t>, H., Parker, S., Deng, S., Joshi, U., Chen, Y., Wang, Y., Wilkins, P., Xu, Y., &amp; </a:t>
            </a:r>
            <a:r>
              <a:rPr lang="en-US" sz="1400" dirty="0" err="1"/>
              <a:t>Bankoski</a:t>
            </a:r>
            <a:r>
              <a:rPr lang="en-US" sz="1400" dirty="0"/>
              <a:t>, J. (2021). A technical overview of AV1. Proceedings of the IEEE, 109(9), 1435–1462. https://doi.org/10.1109/jproc.2021.3058584</a:t>
            </a:r>
          </a:p>
          <a:p>
            <a:r>
              <a:rPr lang="en-US" sz="1400" dirty="0" err="1"/>
              <a:t>Moroz</a:t>
            </a:r>
            <a:r>
              <a:rPr lang="en-US" sz="1400" dirty="0"/>
              <a:t>, L., &amp; </a:t>
            </a:r>
            <a:r>
              <a:rPr lang="en-US" sz="1400" dirty="0" err="1"/>
              <a:t>Samotyy</a:t>
            </a:r>
            <a:r>
              <a:rPr lang="en-US" sz="1400" dirty="0"/>
              <a:t>, V. (2018). Efficient Floating-Point Division for Digital Signal Processing Application [Tips &amp; Tricks]. IEEE Signal Processing Magazine, 36(1), 159–163. https://doi.org/10.1109/msp.2018.2875977</a:t>
            </a:r>
          </a:p>
          <a:p>
            <a:r>
              <a:rPr lang="en-US" sz="1400" dirty="0"/>
              <a:t>Ren, J., &amp; </a:t>
            </a:r>
            <a:r>
              <a:rPr lang="en-US" sz="1400" dirty="0" err="1"/>
              <a:t>Kehtarnavaz</a:t>
            </a:r>
            <a:r>
              <a:rPr lang="en-US" sz="1400" dirty="0"/>
              <a:t>, N. (2007). Algorithmic Optimization for H.264 Deblocking Filter on Portable Devices. IEEE, 15, 1–6. https://doi.org/10.1109/isce.2007.4382168</a:t>
            </a:r>
          </a:p>
          <a:p>
            <a:r>
              <a:rPr lang="en-US" sz="1400" dirty="0"/>
              <a:t>Richardson, I. E. (2010). The H.264 Advanced Video Compression Standard. https://doi.org/10.1002/9780470989418</a:t>
            </a:r>
          </a:p>
          <a:p>
            <a:r>
              <a:rPr lang="en-US" sz="1400" dirty="0"/>
              <a:t>Yi, Y., &amp; Song, B. C. (2008). High-Speed CAVLC encoder for 1080p 60-Hz H.264 </a:t>
            </a:r>
            <a:r>
              <a:rPr lang="en-US" sz="1400" dirty="0" err="1"/>
              <a:t>CodeC</a:t>
            </a:r>
            <a:r>
              <a:rPr lang="en-US" sz="1400" dirty="0"/>
              <a:t>. IEEE Signal Processing Letters, 15, 891–894. https://doi.org/10.1109/lsp.2008.2001982</a:t>
            </a:r>
          </a:p>
        </p:txBody>
      </p:sp>
    </p:spTree>
    <p:extLst>
      <p:ext uri="{BB962C8B-B14F-4D97-AF65-F5344CB8AC3E}">
        <p14:creationId xmlns:p14="http://schemas.microsoft.com/office/powerpoint/2010/main" val="421117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E21B9C9-562B-4627-8F3B-9483EDE90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7598547" cy="777025"/>
          </a:xfrm>
        </p:spPr>
        <p:txBody>
          <a:bodyPr/>
          <a:lstStyle/>
          <a:p>
            <a:r>
              <a:rPr lang="en-US" dirty="0"/>
              <a:t>Thank you for your attention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24FCFB8-F039-46FA-AE88-5E6625ACF6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200" dirty="0"/>
              <a:t>Факультет социально-экономических и компьютерных наук</a:t>
            </a:r>
          </a:p>
          <a:p>
            <a:endParaRPr lang="ru-RU" sz="1200" dirty="0"/>
          </a:p>
          <a:p>
            <a:endParaRPr lang="ru-RU" sz="12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E00EBD33-3F1B-4019-9689-F91493C4F8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200" dirty="0"/>
              <a:t>Разработка сервиса для классификации степени артроза по рентген снимкам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C910E82-6F47-4B12-B3BB-3C2ACE4C64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200" dirty="0" err="1"/>
              <a:t>Берсенёв</a:t>
            </a:r>
            <a:r>
              <a:rPr lang="ru-RU" sz="1200" dirty="0"/>
              <a:t> И.И</a:t>
            </a:r>
          </a:p>
          <a:p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593495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B45D462C-CFC4-430D-BD90-3A388FDF5F5B}"/>
              </a:ext>
            </a:extLst>
          </p:cNvPr>
          <p:cNvSpPr/>
          <p:nvPr/>
        </p:nvSpPr>
        <p:spPr>
          <a:xfrm>
            <a:off x="914400" y="896645"/>
            <a:ext cx="6019800" cy="105337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50670CB-8F9D-5753-82E9-FE1C13AB7984}"/>
              </a:ext>
            </a:extLst>
          </p:cNvPr>
          <p:cNvSpPr/>
          <p:nvPr/>
        </p:nvSpPr>
        <p:spPr>
          <a:xfrm>
            <a:off x="5257800" y="896645"/>
            <a:ext cx="6019800" cy="105337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8" name="Интерактивное оглавление 7">
                <a:extLst>
                  <a:ext uri="{FF2B5EF4-FFF2-40B4-BE49-F238E27FC236}">
                    <a16:creationId xmlns:a16="http://schemas.microsoft.com/office/drawing/2014/main" id="{8FDCC92B-C479-C1B3-870C-79BCF2BCD4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06056576"/>
                  </p:ext>
                </p:extLst>
              </p:nvPr>
            </p:nvGraphicFramePr>
            <p:xfrm>
              <a:off x="849721" y="1162974"/>
              <a:ext cx="10512945" cy="5078027"/>
            </p:xfrm>
            <a:graphic>
              <a:graphicData uri="http://schemas.microsoft.com/office/powerpoint/2016/summaryzoom">
                <psuz:summaryZm>
                  <psuz:summaryZmObj sectionId="{62F8E072-4E58-41B1-83C0-2329993A735E}">
                    <psuz:zmPr id="{B7F52D48-5447-423F-B682-2FB913815D97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92594" y="454494"/>
                          <a:ext cx="2365412" cy="133054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54C8C715-4645-4804-928F-694324AA3E7B}">
                    <psuz:zmPr id="{8947CCC8-4112-4480-8C97-2F979651E40E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846709" y="454494"/>
                          <a:ext cx="2365412" cy="133054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82AE2BB3-4604-4999-8DBC-1A67E32AAD65}">
                    <psuz:zmPr id="{8050750A-57AF-47DF-A015-1F2AE469AC54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300824" y="454494"/>
                          <a:ext cx="2365412" cy="133054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25EF1789-BF5B-4D4F-A2FA-D21EFD6B3229}">
                    <psuz:zmPr id="{D71745C4-9929-4696-8199-633E7C5E2A4F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7754939" y="454494"/>
                          <a:ext cx="2365412" cy="133054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9C1E9C51-2F34-43E1-A3B3-5C07B54D682D}">
                    <psuz:zmPr id="{EDA5A0C0-C180-4673-8ECD-A784967B7997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92594" y="1873741"/>
                          <a:ext cx="2365412" cy="133054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D9FE1334-3B8D-4F1A-B121-DBCF32A83484}">
                    <psuz:zmPr id="{2FFD4BE8-3BEA-4799-8346-E63AEA61B61F}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846709" y="1873741"/>
                          <a:ext cx="2365412" cy="133054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122E98C3-AED6-4010-9D1D-FFC451F3222D}">
                    <psuz:zmPr id="{7A9BB36F-22A0-48F4-9ED4-046F67DB5C67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300824" y="1873741"/>
                          <a:ext cx="2365412" cy="133054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A76B93D6-5F0E-40AB-90C9-1B4FA08F4789}">
                    <psuz:zmPr id="{97C26365-4FF4-437E-82C3-488E86B4C7AB}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7754939" y="1873741"/>
                          <a:ext cx="2365412" cy="133054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B8AC9FF5-FD8F-45CA-8F77-3C4BFC9BD1B3}">
                    <psuz:zmPr id="{89CA00FA-64F4-4E6E-BCEC-4498AB083947}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92594" y="3292988"/>
                          <a:ext cx="2365412" cy="133054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83B858B7-A6B1-4975-A98A-145D5D017188}">
                    <psuz:zmPr id="{DB0E1BA6-9ADE-4DAF-AE4E-1E9E4B465A60}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846709" y="3292988"/>
                          <a:ext cx="2365412" cy="133054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30319114-75E4-4BB0-A405-1DF6109CA445}">
                    <psuz:zmPr id="{4125035F-A06C-42DB-8AF2-04470153EB86}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300824" y="3292988"/>
                          <a:ext cx="2365412" cy="133054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FB9F9E05-1E8D-4FFB-BBD1-C25107250178}">
                    <psuz:zmPr id="{1B3E9CC6-44E1-4C62-AA33-95E1FCEFF15E}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7754939" y="3292988"/>
                          <a:ext cx="2365412" cy="133054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8" name="Интерактивное оглавление 7">
                <a:extLst>
                  <a:ext uri="{FF2B5EF4-FFF2-40B4-BE49-F238E27FC236}">
                    <a16:creationId xmlns:a16="http://schemas.microsoft.com/office/drawing/2014/main" id="{8FDCC92B-C479-C1B3-870C-79BCF2BCD494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849721" y="1162974"/>
                <a:ext cx="10512945" cy="5078027"/>
                <a:chOff x="849721" y="1162974"/>
                <a:chExt cx="10512945" cy="5078027"/>
              </a:xfrm>
            </p:grpSpPr>
            <p:pic>
              <p:nvPicPr>
                <p:cNvPr id="2" name="Рисунок 2">
                  <a:hlinkClick r:id="rId13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242315" y="1617468"/>
                  <a:ext cx="2365412" cy="133054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3" name="Рисунок 3">
                  <a:hlinkClick r:id="rId14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696430" y="1617468"/>
                  <a:ext cx="2365412" cy="133054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4" name="Рисунок 4">
                  <a:hlinkClick r:id="rId15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150545" y="1617468"/>
                  <a:ext cx="2365412" cy="133054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5" name="Рисунок 5">
                  <a:hlinkClick r:id="rId16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604660" y="1617468"/>
                  <a:ext cx="2365412" cy="133054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6" name="Рисунок 6">
                  <a:hlinkClick r:id="rId1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242315" y="3036715"/>
                  <a:ext cx="2365412" cy="133054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7" name="Рисунок 7">
                  <a:hlinkClick r:id="rId18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696430" y="3036715"/>
                  <a:ext cx="2365412" cy="133054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9" name="Рисунок 9">
                  <a:hlinkClick r:id="rId19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50545" y="3036715"/>
                  <a:ext cx="2365412" cy="133054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2" name="Рисунок 12">
                  <a:hlinkClick r:id="rId20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604660" y="3036715"/>
                  <a:ext cx="2365412" cy="133054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3" name="Рисунок 13">
                  <a:hlinkClick r:id="rId21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42315" y="4455962"/>
                  <a:ext cx="2365412" cy="133054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5" name="Рисунок 15"/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96430" y="4455962"/>
                  <a:ext cx="2365412" cy="133054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6" name="Рисунок 16"/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150545" y="4455962"/>
                  <a:ext cx="2365412" cy="133054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7" name="Рисунок 17">
                  <a:hlinkClick r:id="rId22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604660" y="4455962"/>
                  <a:ext cx="2365412" cy="133054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p:grpSp>
        </mc:Fallback>
      </mc:AlternateContent>
      <p:sp>
        <p:nvSpPr>
          <p:cNvPr id="19" name="Заголовок 18">
            <a:extLst>
              <a:ext uri="{FF2B5EF4-FFF2-40B4-BE49-F238E27FC236}">
                <a16:creationId xmlns:a16="http://schemas.microsoft.com/office/drawing/2014/main" id="{965BC522-93B1-44F6-8AEB-84E4B4284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2104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33DAF31-D8A6-49A0-9A5D-8B2EA5B1C51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e96afe77-3acb-4328-97fc-408e1bde3ecd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9875bd71-cde8-496c-a136-433f55d5e6d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1473</Words>
  <Application>Microsoft Office PowerPoint</Application>
  <PresentationFormat>Широкоэкранный</PresentationFormat>
  <Paragraphs>136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6" baseType="lpstr">
      <vt:lpstr>Anthropic Sans</vt:lpstr>
      <vt:lpstr>Arial</vt:lpstr>
      <vt:lpstr>Calibri</vt:lpstr>
      <vt:lpstr>Calibri Light</vt:lpstr>
      <vt:lpstr>Consolas</vt:lpstr>
      <vt:lpstr>Google Sans</vt:lpstr>
      <vt:lpstr>HSE Sans</vt:lpstr>
      <vt:lpstr>Times New Roman</vt:lpstr>
      <vt:lpstr>Wingdings</vt:lpstr>
      <vt:lpstr>Office Theme</vt:lpstr>
      <vt:lpstr>DEVELOPMENT OF A SYSTEM FOR FAST VIDEO DECODING IN AV1 FORMAT</vt:lpstr>
      <vt:lpstr>Introduction </vt:lpstr>
      <vt:lpstr>Relevance and hypothesis</vt:lpstr>
      <vt:lpstr>Research progress</vt:lpstr>
      <vt:lpstr>Theoretical background</vt:lpstr>
      <vt:lpstr>Interpolation</vt:lpstr>
      <vt:lpstr>DF (Deblocking Filter)</vt:lpstr>
      <vt:lpstr>CDEF (Constrained Directional Enhancement Filter)</vt:lpstr>
      <vt:lpstr>Lookup tables</vt:lpstr>
      <vt:lpstr>Methodological base</vt:lpstr>
      <vt:lpstr>Metrics used</vt:lpstr>
      <vt:lpstr>Plan of the practice part</vt:lpstr>
      <vt:lpstr>Expected results</vt:lpstr>
      <vt:lpstr>References </vt:lpstr>
      <vt:lpstr>Thank you for your attention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1</cp:lastModifiedBy>
  <cp:revision>43</cp:revision>
  <cp:lastPrinted>2021-11-11T13:08:42Z</cp:lastPrinted>
  <dcterms:created xsi:type="dcterms:W3CDTF">2021-11-11T08:52:47Z</dcterms:created>
  <dcterms:modified xsi:type="dcterms:W3CDTF">2026-03-24T06:27:57Z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